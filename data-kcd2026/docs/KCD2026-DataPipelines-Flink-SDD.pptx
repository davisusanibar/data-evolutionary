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 id="2147483667" r:id="rId5"/>
  </p:sldMasterIdLst>
  <p:notesMasterIdLst>
    <p:notesMasterId r:id="rId6"/>
  </p:notesMasterIdLst>
  <p:sldIdLst>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43" r:id="rId66"/>
    <p:sldId id="344" r:id="rId67"/>
    <p:sldId id="325" r:id="rId48"/>
    <p:sldId id="326" r:id="rId49"/>
    <p:sldId id="345" r:id="rId68"/>
    <p:sldId id="327" r:id="rId50"/>
    <p:sldId id="328" r:id="rId51"/>
    <p:sldId id="329" r:id="rId52"/>
    <p:sldId id="330" r:id="rId53"/>
    <p:sldId id="331" r:id="rId54"/>
    <p:sldId id="332" r:id="rId55"/>
    <p:sldId id="333" r:id="rId56"/>
    <p:sldId id="334" r:id="rId57"/>
    <p:sldId id="335" r:id="rId58"/>
    <p:sldId id="336" r:id="rId59"/>
    <p:sldId id="337" r:id="rId60"/>
    <p:sldId id="340" r:id="rId63"/>
    <p:sldId id="341" r:id="rId64"/>
    <p:sldId id="342" r:id="rId65"/>
  </p:sldIdLst>
  <p:sldSz cy="5143500" cx="9144000"/>
  <p:notesSz cx="6858000" cy="9144000"/>
  <p:embeddedFontLst>
    <p:embeddedFont>
      <p:font typeface="Google Sans"/>
      <p:regular r:id="rId15"/>
      <p:bold r:id="rId16"/>
      <p:italic r:id="rId17"/>
      <p:boldItalic r:id="rId18"/>
    </p:embeddedFont>
    <p:embeddedFont>
      <p:font typeface="Google Sans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15" Type="http://schemas.openxmlformats.org/officeDocument/2006/relationships/font" Target="fonts/GoogleSans-regular.fntdata"/><Relationship Id="rId16" Type="http://schemas.openxmlformats.org/officeDocument/2006/relationships/font" Target="fonts/GoogleSans-bold.fntdata"/><Relationship Id="rId17" Type="http://schemas.openxmlformats.org/officeDocument/2006/relationships/font" Target="fonts/GoogleSans-italic.fntdata"/><Relationship Id="rId18" Type="http://schemas.openxmlformats.org/officeDocument/2006/relationships/font" Target="fonts/GoogleSans-boldItalic.fntdata"/><Relationship Id="rId19" Type="http://schemas.openxmlformats.org/officeDocument/2006/relationships/font" Target="fonts/GoogleSansMedium-regular.fntdata"/><Relationship Id="rId20" Type="http://schemas.openxmlformats.org/officeDocument/2006/relationships/font" Target="fonts/GoogleSansMedium-bold.fntdata"/><Relationship Id="rId21" Type="http://schemas.openxmlformats.org/officeDocument/2006/relationships/font" Target="fonts/GoogleSansMedium-italic.fntdata"/><Relationship Id="rId22" Type="http://schemas.openxmlformats.org/officeDocument/2006/relationships/font" Target="fonts/GoogleSansMedium-boldItalic.fntdata"/><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 Id="rId40" Type="http://schemas.openxmlformats.org/officeDocument/2006/relationships/slide" Target="slides/slide18.xml"/><Relationship Id="rId41" Type="http://schemas.openxmlformats.org/officeDocument/2006/relationships/slide" Target="slides/slide19.xml"/><Relationship Id="rId42" Type="http://schemas.openxmlformats.org/officeDocument/2006/relationships/slide" Target="slides/slide20.xml"/><Relationship Id="rId43" Type="http://schemas.openxmlformats.org/officeDocument/2006/relationships/slide" Target="slides/slide21.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34.xml"/><Relationship Id="rId57" Type="http://schemas.openxmlformats.org/officeDocument/2006/relationships/slide" Target="slides/slide35.xml"/><Relationship Id="rId58" Type="http://schemas.openxmlformats.org/officeDocument/2006/relationships/slide" Target="slides/slide36.xml"/><Relationship Id="rId59" Type="http://schemas.openxmlformats.org/officeDocument/2006/relationships/slide" Target="slides/slide37.xml"/><Relationship Id="rId60" Type="http://schemas.openxmlformats.org/officeDocument/2006/relationships/slide" Target="slides/slide38.xml"/><Relationship Id="rId63" Type="http://schemas.openxmlformats.org/officeDocument/2006/relationships/slide" Target="slides/slide41.xml"/><Relationship Id="rId64" Type="http://schemas.openxmlformats.org/officeDocument/2006/relationships/slide" Target="slides/slide42.xml"/><Relationship Id="rId65" Type="http://schemas.openxmlformats.org/officeDocument/2006/relationships/slide" Target="slides/slide43.xml"/>  <Relationship Id="rId66" Type="http://schemas.openxmlformats.org/officeDocument/2006/relationships/slide" Target="slides/slide44.xml"/>
  <Relationship Id="rId67" Type="http://schemas.openxmlformats.org/officeDocument/2006/relationships/slide" Target="slides/slide45.xml"/>
  <Relationship Id="rId68" Type="http://schemas.openxmlformats.org/officeDocument/2006/relationships/slide" Target="slides/slide4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IA generativa nos dejo escribir pipelines mas rapido que nunca. La pregunta de hoy no es como generar mas codigo: es como no perder calidad, trazabilidad y mantenibilidad mientras lo hacemos.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Presentacion breve. El punto: lo que van a ver salio de codigo que corrimos, no de un ejemplo de documentacion.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frase es de un ADR real del repo que vamos a mostrar. Describe la enfermedad: cuando no hay contrato, la decision no desaparece; se muda al codigo y al chat, donde nadie la revisa.</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Cuatro sintomas que todos reconocemos. El cuarto es el mas caro: 'funciono en la demo' termina siendo la evidencia de que esta listo para produccion. Volvemos a este punto al final, con datos.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 es una charla anti-IA: usamos un agente para generar el job de Flink que van a ver. El punto es que la IA amplifica lo que ya tenias. Si tu contrato es implicito, ahora tenes deuda implicita a mayor velocidad.</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Primera parte: el sistema de gobierno. Segunda parte: como lo aplicamos a un pipeline de Flink.</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Definicion canonica del glosario de Foundation. No es una metafora: el repo trata al conocimiento como el artefacto versionado y al codigo como una proyeccion suya.</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linea define el rol del agente en todo lo que sigue. La IA descubre, propone, planifica, valida y produce borradores. La autoridad humana conserva priorizacion, aceptacion de riesgo y decisiones de arquitectura.</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Siete articulos, cada uno derivado de un Knowledge Object de Foundation. Los que mas van a ver hoy: el II (spec antes que artefacto), el IV (cero cifras sin fuente) y el V (una fuente, muchas vistas), que es el que sostiene todo el mecanismo de proyecciones.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nueve estan en CORE_DOCTRINE.md. Si se llevan uno solo, que sea 'receipts over claims': un chat diciendo que algo funciona no habilita la fase siguiente. Hoy vamos a violar esa regla a proposito y ver que pasa.</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Definicion canonica de fail-closed en el repo. La consecuencia practica: un gate que no puede probar algo, falla. No hay 'warning' que se pueda ignorar. Van a ver esto ocurrir tres veces hoy.</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es, para mi, la idea mas exportable del repo. El schema del EvidenceReceipt define el claim de integridad como un const: no podes escribir un recibo que prometa mas de lo que el mecanismo puede probar, porque el JSON no valida. Claim boundary ejecutado, no prometido.</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Mismo stack, misma latencia, mismo costo. La unica diferencia es de donde sale el contrato y quien verifica que no derive. Todo lo que sigue es como construir la fila de abajo.</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jerarquia decidio donde vive el generador de este deck. El deck es un consumer: consume la constitucion, el catalogo de ADRs y el claim-surface reales. Core no aprendio a hacer PowerPoint, y por eso sigue siendo stdlib puro y portable.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el mecanismo que vamos a copiar para el pipeline. La constitucion declara, por articulo, un substring literal que debe existir en su fuente de Foundation. Si alguien edita ART-000 y borra esa frase, la constitucion no compila. Es un canary de deriva semantica.</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Dos schemas, dos prefijos de id, dos actores. El ApprovalReceipt declara actor.type como const 'human': un agente no puede validar contra ese schema, literalmente. Y la aprobacion apunta por digest al recibo exacto que aprueba. No podes aprobar 'en general'.</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Ocho fases. Ojo con el orden: checklist va cuarto, antes de plan, no al final. El plan incluye un Constitution Check con veredicto por articulo, y un VIOLA detiene el plan: el camino no es una excepcion, es un ADR.</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cadena es de ADR-0002. Lo importante es la ultima columna: la ruta de evidencia esta vacia hasta que la tarea corre. Una fila con evidencia vacia no es un resultado anticipado: es trabajo pendiente.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modulo se suma al repo data-evolutionary que ya llevamos a KCD 2025. La columna izquierda es lo nuevo: el carril de gobierno. La fila de la derecha es el pipeline de siempre. El gate es el puente.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Como se ve esto en la practica, fase por fase.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par sale de la spec real del pipeline. Fijense en la diferencia: el FR dice que debe pasar, el SC dice como se comprueba. El SC es lo que despues se convierte en un test con nombre.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el Constitution Check real del plan del pipeline. No es un checkbox: cada veredicto exige evidencia. El III dice N/A porque el pipeline no toca una frontera estructural de Core. Cuando SI la tocamos —al decidir como generar este deck— tuvimos que escribir un ADR.</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Quince gates, todos pre-push y ci menos VALIDATE. Lo elegante esta a la derecha: el runner valida el registro ANTES de ejecutar nada. Si borras un gate del json para que deje de molestar, el runner no arranca. Sin --scope y sin gates devuelve 1: nunca 'vacio = OK'.</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 lo que sigue lo corrimos. Los logs son transcripciones, no maquetas.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Elegimos ventana temporal porque en 2025 ya mostramos CDC y join. Las tres decisiones de la derecha estan argumentadas en el plan.md, con sus alternativas rechazadas. La tercera es la mas honesta: degradamos decimal a double y lo declaramos, en vez de fingir exactitud fiscal.</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Tres representaciones del mismo contrato. El gate no compara dos: compara tres, incluida la prosa. Ese tercer chequeo es el que evita que la documentacion se vuelva decorativa.</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EN VIVO. Correr el gate, romper el avsc con sed, correr de nuevo. Treinta segundos. El mensaje final es deliberado: 'no ajustes el .avsc para que el gate calle'. Es la tentacion natural y hay que nombrarla.</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Esto nos paso de verdad, hoy, construyendo esta demo. Los tres bugs sobrevivieron a 5 tests verdes y a un gate de contrato en verde. El tercero es el mas cruel: el job llegaba a RUNNING con el log correcto y moria al pasar el primer elemento fuera de la ventana, porque Flink no infiere el tipo de GenericRecord y cae a Kryo. Por eso T013 —correr contra el compose— existia como tarea separada, y por eso no declaramos 'implemented' antes de cerrarla.</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log de arranque declara el contrato: cualquiera que mire el log sabe que lee, que escribe y bajo que spec, sin abrir el codigo. Y la salida verifica dos criterios a ojo: la suma da 150 y la orden incompleta no esta. Si FR-004 hubiera fallado, veriamos 1149.99.</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ahora lo que no planeamos: el gobierno se demostro solo.</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EL MOMENTO. No lo fabricamos: lo provocamos sin querer. Al escribir el ADR-0015, un check que nadie recordaba puso el gate en rojo. El sistema se niega a decir que esta completo cuando hay algo sin firmar sobre la mesa. Y volvio a verde por una firma humana, no por un parche. El ciclo completo quedo en el historial de git. Si hay tiempo: mostrarlo en vivo con git show 274812f.</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Practicamos lo que predicamos. Esta slide es un claim boundary, el mismo patron que EvidenceReceipt congela en su schema. Si nos fueramos sin esta slide, la demo verde se habria convertido en el claim, que es exactamente la enfermedad que vinimos a describir.</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esto cerramos. La IA puede descubrir, proponer, planificar, validar y producir borradores. La autoridad humana conserva priorizacion, aceptacion de riesgo, decisiones de arquitectura y veredicto de publicacion. El gate no acepta: verifica. Gracias.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 que sigue no se presenta: se entrega. Tres vistas HTML completas, paginadas por Chrome con texto seleccionable, van fusionadas al final del PDF; las slides solo muestran su portada. Y cierran los anexos A4 y A5: cuatro capturas del owner de la sesion e2e — la Flink UI y la memoria de engram, tal cual.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anexo es la vista day-zero completa del sistema operativo: la constitucion, los quince ADR y los gates de Core. No la recorremos en vivo; viaja paginada en el PDF, con texto seleccionable. El cover solo muestra la portada real, renderizada por Chrome desde el HTML.</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Aqui esta la vista aplicada: que hereda la demo Flink del gobierno de Core, articulo por articulo y gate por gate. Si alguien pregunta como se conecta la charla con el baseline, la respuesta esta en este anexo del PDF, no en una slide comprimida.</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el caso completo: contrato Avro, canary en rojo, evidencia e2e. Es la misma pagina publicada del caso, paginada tal cual. El deck conto la historia; este anexo permite auditarla linea por linea.</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engram guardo ocho observaciones durante la construccion de la demo: decisiones, bugs, el canary en rojo, el gobierno demostrandose. Es la memoria persistente de la sesion: si la charla o la demo se reconstruyen, este contexto no se pierde.</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la observacion 7 es la tesis de la charla guardada como memoria: tres bugs que los tests verdes no atraparon, con su What, Why y Learned. La charla termina donde empezo: el conocimiento primero, tambien como memoria de la sesion que la construyo.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EMPLATE ONLY_Cover">
  <p:cSld name="CUSTOM_1">
    <p:bg>
      <p:bgPr>
        <a:solidFill>
          <a:srgbClr val="2480EF"/>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TEMPLATE ONLY_Cover">
  <p:cSld name="CUSTOM_1">
    <p:bg>
      <p:bgPr>
        <a:solidFill>
          <a:srgbClr val="2480EF"/>
        </a:solidFill>
      </p:bgPr>
    </p:bg>
    <p:spTree>
      <p:nvGrpSpPr>
        <p:cNvPr id="53" name="Shape 53"/>
        <p:cNvGrpSpPr/>
        <p:nvPr/>
      </p:nvGrpSpPr>
      <p:grpSpPr>
        <a:xfrm>
          <a:off x="0" y="0"/>
          <a:ext cx="0" cy="0"/>
          <a:chOff x="0" y="0"/>
          <a:chExt cx="0" cy="0"/>
        </a:xfrm>
      </p:grpSpPr>
      <p:sp>
        <p:nvSpPr>
          <p:cNvPr id="54" name="Google Shape;54;p15"/>
          <p:cNvSpPr txBox="1"/>
          <p:nvPr/>
        </p:nvSpPr>
        <p:spPr>
          <a:xfrm>
            <a:off x="370900" y="180000"/>
            <a:ext cx="2045100" cy="108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700">
                <a:solidFill>
                  <a:srgbClr val="FFFFFF"/>
                </a:solidFill>
                <a:latin typeface="Google Sans"/>
                <a:ea typeface="Google Sans"/>
                <a:cs typeface="Google Sans"/>
                <a:sym typeface="Google Sans"/>
              </a:rPr>
              <a:t>Women Techmakers Brand 2023</a:t>
            </a:r>
            <a:endParaRPr sz="700">
              <a:solidFill>
                <a:srgbClr val="FFFFFF"/>
              </a:solidFill>
              <a:latin typeface="Google Sans"/>
              <a:ea typeface="Google Sans"/>
              <a:cs typeface="Google Sans"/>
              <a:sym typeface="Google Sans"/>
            </a:endParaRPr>
          </a:p>
        </p:txBody>
      </p:sp>
      <p:sp>
        <p:nvSpPr>
          <p:cNvPr id="55" name="Google Shape;55;p15"/>
          <p:cNvSpPr txBox="1"/>
          <p:nvPr/>
        </p:nvSpPr>
        <p:spPr>
          <a:xfrm>
            <a:off x="7561525" y="203700"/>
            <a:ext cx="1212900" cy="945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rgbClr val="202124"/>
              </a:buClr>
              <a:buSzPts val="1100"/>
              <a:buFont typeface="Arial"/>
              <a:buNone/>
            </a:pPr>
            <a:r>
              <a:rPr lang="en" sz="600">
                <a:solidFill>
                  <a:srgbClr val="FFFFFF"/>
                </a:solidFill>
                <a:latin typeface="Google Sans"/>
                <a:ea typeface="Google Sans"/>
                <a:cs typeface="Google Sans"/>
                <a:sym typeface="Google Sans"/>
              </a:rPr>
              <a:t>Proprietary and Confidential</a:t>
            </a:r>
            <a:endParaRPr sz="600">
              <a:solidFill>
                <a:srgbClr val="FFFFFF"/>
              </a:solidFill>
              <a:latin typeface="Google Sans"/>
              <a:ea typeface="Google Sans"/>
              <a:cs typeface="Google Sans"/>
              <a:sym typeface="Google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grid_Blank">
  <p:cSld name="CUSTOM_1_1">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grid_Blank_White Logo">
  <p:cSld name="CUSTOM_1_1_1">
    <p:bg>
      <p:bgPr>
        <a:solidFill>
          <a:schemeClr val="lt1"/>
        </a:solidFill>
      </p:bgPr>
    </p:bg>
    <p:spTree>
      <p:nvGrpSpPr>
        <p:cNvPr id="57" name="Shape 57"/>
        <p:cNvGrpSpPr/>
        <p:nvPr/>
      </p:nvGrpSpPr>
      <p:grpSpPr>
        <a:xfrm>
          <a:off x="0" y="0"/>
          <a:ext cx="0" cy="0"/>
          <a:chOff x="0" y="0"/>
          <a:chExt cx="0" cy="0"/>
        </a:xfrm>
      </p:grpSpPr>
      <p:pic>
        <p:nvPicPr>
          <p:cNvPr id="58" name="Google Shape;58;p17"/>
          <p:cNvPicPr preferRelativeResize="0"/>
          <p:nvPr/>
        </p:nvPicPr>
        <p:blipFill rotWithShape="1">
          <a:blip r:embed="rId2">
            <a:alphaModFix/>
          </a:blip>
          <a:srcRect b="27595" l="11685" r="11693" t="27595"/>
          <a:stretch/>
        </p:blipFill>
        <p:spPr>
          <a:xfrm>
            <a:off x="369450" y="4824775"/>
            <a:ext cx="1033175" cy="18027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grid_Blank_Black Logo">
  <p:cSld name="CUSTOM_1_1_1_1">
    <p:bg>
      <p:bgPr>
        <a:solidFill>
          <a:schemeClr val="lt1"/>
        </a:solidFill>
      </p:bgPr>
    </p:bg>
    <p:spTree>
      <p:nvGrpSpPr>
        <p:cNvPr id="59" name="Shape 59"/>
        <p:cNvGrpSpPr/>
        <p:nvPr/>
      </p:nvGrpSpPr>
      <p:grpSpPr>
        <a:xfrm>
          <a:off x="0" y="0"/>
          <a:ext cx="0" cy="0"/>
          <a:chOff x="0" y="0"/>
          <a:chExt cx="0" cy="0"/>
        </a:xfrm>
      </p:grpSpPr>
      <p:pic>
        <p:nvPicPr>
          <p:cNvPr id="60" name="Google Shape;60;p18"/>
          <p:cNvPicPr preferRelativeResize="0"/>
          <p:nvPr/>
        </p:nvPicPr>
        <p:blipFill rotWithShape="1">
          <a:blip r:embed="rId2">
            <a:alphaModFix/>
          </a:blip>
          <a:srcRect b="32898" l="11839" r="11831" t="32898"/>
          <a:stretch/>
        </p:blipFill>
        <p:spPr>
          <a:xfrm>
            <a:off x="369450" y="4845850"/>
            <a:ext cx="1033175" cy="138126"/>
          </a:xfrm>
          <a:prstGeom prst="rect">
            <a:avLst/>
          </a:prstGeom>
          <a:noFill/>
          <a:ln>
            <a:noFill/>
          </a:ln>
        </p:spPr>
      </p:pic>
      <p:sp>
        <p:nvSpPr>
          <p:cNvPr id="61" name="Google Shape;61;p18"/>
          <p:cNvSpPr txBox="1"/>
          <p:nvPr/>
        </p:nvSpPr>
        <p:spPr>
          <a:xfrm>
            <a:off x="7444050" y="203703"/>
            <a:ext cx="1330500" cy="945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Clr>
                <a:srgbClr val="202124"/>
              </a:buClr>
              <a:buSzPts val="1100"/>
              <a:buFont typeface="Arial"/>
              <a:buNone/>
            </a:pPr>
            <a:r>
              <a:rPr lang="en" sz="600">
                <a:solidFill>
                  <a:schemeClr val="dk1"/>
                </a:solidFill>
                <a:latin typeface="Google Sans"/>
                <a:ea typeface="Google Sans"/>
                <a:cs typeface="Google Sans"/>
                <a:sym typeface="Google Sans"/>
              </a:rPr>
              <a:t>Proprietary and Confidential</a:t>
            </a:r>
            <a:endParaRPr sz="600">
              <a:solidFill>
                <a:schemeClr val="dk1"/>
              </a:solidFill>
              <a:latin typeface="Google Sans"/>
              <a:ea typeface="Google Sans"/>
              <a:cs typeface="Google Sans"/>
              <a:sym typeface="Google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grid">
  <p:cSld name="TITLE_2_3_4_1_5_3_1_1_1_3_1">
    <p:spTree>
      <p:nvGrpSpPr>
        <p:cNvPr id="62" name="Shape 62"/>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2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5200"/>
              <a:buChar char="●"/>
              <a:defRPr sz="5200"/>
            </a:lvl1pPr>
            <a:lvl2pPr lvl="1" rtl="0" algn="ctr">
              <a:spcBef>
                <a:spcPts val="0"/>
              </a:spcBef>
              <a:spcAft>
                <a:spcPts val="0"/>
              </a:spcAft>
              <a:buSzPts val="5200"/>
              <a:buChar char="○"/>
              <a:defRPr sz="5200"/>
            </a:lvl2pPr>
            <a:lvl3pPr lvl="2" rtl="0" algn="ctr">
              <a:spcBef>
                <a:spcPts val="0"/>
              </a:spcBef>
              <a:spcAft>
                <a:spcPts val="0"/>
              </a:spcAft>
              <a:buSzPts val="5200"/>
              <a:buChar char="■"/>
              <a:defRPr sz="5200"/>
            </a:lvl3pPr>
            <a:lvl4pPr lvl="3" rtl="0" algn="ctr">
              <a:spcBef>
                <a:spcPts val="0"/>
              </a:spcBef>
              <a:spcAft>
                <a:spcPts val="0"/>
              </a:spcAft>
              <a:buSzPts val="5200"/>
              <a:buChar char="●"/>
              <a:defRPr sz="5200"/>
            </a:lvl4pPr>
            <a:lvl5pPr lvl="4" rtl="0" algn="ctr">
              <a:spcBef>
                <a:spcPts val="0"/>
              </a:spcBef>
              <a:spcAft>
                <a:spcPts val="0"/>
              </a:spcAft>
              <a:buSzPts val="5200"/>
              <a:buChar char="○"/>
              <a:defRPr sz="5200"/>
            </a:lvl5pPr>
            <a:lvl6pPr lvl="5" rtl="0" algn="ctr">
              <a:spcBef>
                <a:spcPts val="0"/>
              </a:spcBef>
              <a:spcAft>
                <a:spcPts val="0"/>
              </a:spcAft>
              <a:buSzPts val="5200"/>
              <a:buChar char="■"/>
              <a:defRPr sz="5200"/>
            </a:lvl6pPr>
            <a:lvl7pPr lvl="6" rtl="0" algn="ctr">
              <a:spcBef>
                <a:spcPts val="0"/>
              </a:spcBef>
              <a:spcAft>
                <a:spcPts val="0"/>
              </a:spcAft>
              <a:buSzPts val="5200"/>
              <a:buChar char="●"/>
              <a:defRPr sz="5200"/>
            </a:lvl7pPr>
            <a:lvl8pPr lvl="7" rtl="0" algn="ctr">
              <a:spcBef>
                <a:spcPts val="0"/>
              </a:spcBef>
              <a:spcAft>
                <a:spcPts val="0"/>
              </a:spcAft>
              <a:buSzPts val="5200"/>
              <a:buChar char="○"/>
              <a:defRPr sz="5200"/>
            </a:lvl8pPr>
            <a:lvl9pPr lvl="8" rtl="0" algn="ctr">
              <a:spcBef>
                <a:spcPts val="0"/>
              </a:spcBef>
              <a:spcAft>
                <a:spcPts val="0"/>
              </a:spcAft>
              <a:buSzPts val="5200"/>
              <a:buChar char="■"/>
              <a:defRPr sz="5200"/>
            </a:lvl9pPr>
          </a:lstStyle>
          <a:p/>
        </p:txBody>
      </p:sp>
      <p:sp>
        <p:nvSpPr>
          <p:cNvPr id="65" name="Google Shape;65;p20"/>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6" name="Google Shape;66;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1" name="Shape 51"/>
        <p:cNvGrpSpPr/>
        <p:nvPr/>
      </p:nvGrpSpPr>
      <p:grpSpPr>
        <a:xfrm>
          <a:off x="0" y="0"/>
          <a:ext cx="0" cy="0"/>
          <a:chOff x="0" y="0"/>
          <a:chExt cx="0" cy="0"/>
        </a:xfrm>
      </p:grpSpPr>
      <p:sp>
        <p:nvSpPr>
          <p:cNvPr id="52" name="Google Shape;52;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lgn="r">
              <a:buNone/>
              <a:defRPr sz="1300">
                <a:solidFill>
                  <a:schemeClr val="tx1"/>
                </a:solidFill>
              </a:defRPr>
            </a:lvl1pPr>
            <a:lvl2pPr lvl="1" rtl="0" algn="r">
              <a:buNone/>
              <a:defRPr sz="1300">
                <a:solidFill>
                  <a:schemeClr val="tx1"/>
                </a:solidFill>
              </a:defRPr>
            </a:lvl2pPr>
            <a:lvl3pPr lvl="2" rtl="0" algn="r">
              <a:buNone/>
              <a:defRPr sz="1300">
                <a:solidFill>
                  <a:schemeClr val="tx1"/>
                </a:solidFill>
              </a:defRPr>
            </a:lvl3pPr>
            <a:lvl4pPr lvl="3" rtl="0" algn="r">
              <a:buNone/>
              <a:defRPr sz="1300">
                <a:solidFill>
                  <a:schemeClr val="tx1"/>
                </a:solidFill>
              </a:defRPr>
            </a:lvl4pPr>
            <a:lvl5pPr lvl="4" rtl="0" algn="r">
              <a:buNone/>
              <a:defRPr sz="1300">
                <a:solidFill>
                  <a:schemeClr val="tx1"/>
                </a:solidFill>
              </a:defRPr>
            </a:lvl5pPr>
            <a:lvl6pPr lvl="5" rtl="0" algn="r">
              <a:buNone/>
              <a:defRPr sz="1300">
                <a:solidFill>
                  <a:schemeClr val="tx1"/>
                </a:solidFill>
              </a:defRPr>
            </a:lvl6pPr>
            <a:lvl7pPr lvl="6" rtl="0" algn="r">
              <a:buNone/>
              <a:defRPr sz="1300">
                <a:solidFill>
                  <a:schemeClr val="tx1"/>
                </a:solidFill>
              </a:defRPr>
            </a:lvl7pPr>
            <a:lvl8pPr lvl="7" rtl="0" algn="r">
              <a:buNone/>
              <a:defRPr sz="1300">
                <a:solidFill>
                  <a:schemeClr val="tx1"/>
                </a:solidFill>
              </a:defRPr>
            </a:lvl8pPr>
            <a:lvl9pPr lvl="8" rtl="0"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33">
          <p15:clr>
            <a:srgbClr val="E46962"/>
          </p15:clr>
        </p15:guide>
        <p15:guide id="2" pos="5527">
          <p15:clr>
            <a:srgbClr val="E46962"/>
          </p15:clr>
        </p15:guide>
        <p15:guide id="3" pos="1558">
          <p15:clr>
            <a:srgbClr val="E46962"/>
          </p15:clr>
        </p15:guide>
        <p15:guide id="4" pos="4202">
          <p15:clr>
            <a:srgbClr val="E46962"/>
          </p15:clr>
        </p15:guide>
        <p15:guide id="5" pos="1613">
          <p15:clr>
            <a:srgbClr val="E46962"/>
          </p15:clr>
        </p15:guide>
        <p15:guide id="6" pos="4147">
          <p15:clr>
            <a:srgbClr val="E46962"/>
          </p15:clr>
        </p15:guide>
        <p15:guide id="7" pos="1987">
          <p15:clr>
            <a:srgbClr val="E46962"/>
          </p15:clr>
        </p15:guide>
        <p15:guide id="8" pos="2044">
          <p15:clr>
            <a:srgbClr val="E46962"/>
          </p15:clr>
        </p15:guide>
        <p15:guide id="9" pos="2852">
          <p15:clr>
            <a:srgbClr val="E46962"/>
          </p15:clr>
        </p15:guide>
        <p15:guide id="10" pos="2908">
          <p15:clr>
            <a:srgbClr val="E46962"/>
          </p15:clr>
        </p15:guide>
        <p15:guide id="11" pos="3716">
          <p15:clr>
            <a:srgbClr val="E46962"/>
          </p15:clr>
        </p15:guide>
        <p15:guide id="12" pos="3773">
          <p15:clr>
            <a:srgbClr val="E46962"/>
          </p15:clr>
        </p15:guide>
        <p15:guide id="13" orient="horz" pos="228">
          <p15:clr>
            <a:srgbClr val="E46962"/>
          </p15:clr>
        </p15:guide>
        <p15:guide id="14" orient="horz" pos="3012">
          <p15:clr>
            <a:srgbClr val="E46962"/>
          </p15:clr>
        </p15:guide>
        <p15:guide id="15" orient="horz" pos="921">
          <p15:clr>
            <a:srgbClr val="E46962"/>
          </p15:clr>
        </p15:guide>
        <p15:guide id="16" orient="horz" pos="977">
          <p15:clr>
            <a:srgbClr val="E46962"/>
          </p15:clr>
        </p15:guide>
        <p15:guide id="17" orient="horz" pos="1601">
          <p15:clr>
            <a:srgbClr val="E46962"/>
          </p15:clr>
        </p15:guide>
        <p15:guide id="18" orient="horz" pos="1656">
          <p15:clr>
            <a:srgbClr val="E46962"/>
          </p15:clr>
        </p15:guide>
        <p15:guide id="19" orient="horz" pos="2263">
          <p15:clr>
            <a:srgbClr val="E46962"/>
          </p15:clr>
        </p15:guide>
        <p15:guide id="20" orient="horz" pos="231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6.png"/><Relationship Id="rId3" Type="http://schemas.openxmlformats.org/officeDocument/2006/relationships/image" Target="../media/image7.png"/><Relationship Id="rId4"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3"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3"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 name="Shape 70"/>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23"/>
          <p:cNvSpPr txBox="1"/>
          <p:nvPr/>
        </p:nvSpPr>
        <p:spPr>
          <a:xfrm>
            <a:off x="369450" y="1070500"/>
            <a:ext cx="4158600" cy="16518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2600">
                <a:solidFill>
                  <a:schemeClr val="dk1"/>
                </a:solidFill>
                <a:latin typeface="Arial"/>
                <a:ea typeface="Google Sans"/>
                <a:cs typeface="Google Sans"/>
                <a:sym typeface="Google Sans"/>
              </a:rPr>
              <a:t>Construyendo</a:t>
            </a:r>
            <a:endParaRPr b="1" sz="2600">
              <a:solidFill>
                <a:schemeClr val="dk1"/>
              </a:solidFill>
              <a:latin typeface="Google Sans"/>
              <a:ea typeface="Google Sans"/>
              <a:cs typeface="Google Sans"/>
              <a:sym typeface="Google Sans"/>
            </a:endParaRPr>
          </a:p>
          <a:p>
            <a:pPr indent="0" lvl="0" marL="0" rtl="0" algn="l">
              <a:lnSpc>
                <a:spcPct val="90000"/>
              </a:lnSpc>
              <a:spcBef>
                <a:spcPts val="0"/>
              </a:spcBef>
              <a:spcAft>
                <a:spcPts val="1000"/>
              </a:spcAft>
              <a:buNone/>
            </a:pPr>
            <a:r>
              <a:rPr b="1" lang="en" sz="2600">
                <a:solidFill>
                  <a:schemeClr val="dk1"/>
                </a:solidFill>
                <a:latin typeface="Arial"/>
                <a:ea typeface="Google Sans"/>
                <a:cs typeface="Google Sans"/>
                <a:sym typeface="Google Sans"/>
              </a:rPr>
              <a:t>Data Pipelines</a:t>
            </a:r>
          </a:p>
          <a:p>
            <a:pPr indent="0" lvl="0" marL="0" rtl="0" algn="l">
              <a:lnSpc>
                <a:spcPct val="90000"/>
              </a:lnSpc>
              <a:spcBef>
                <a:spcPts val="0"/>
              </a:spcBef>
              <a:spcAft>
                <a:spcPts val="1000"/>
              </a:spcAft>
              <a:buNone/>
            </a:pPr>
            <a:r>
              <a:rPr b="1" lang="en" sz="2600">
                <a:solidFill>
                  <a:schemeClr val="dk1"/>
                </a:solidFill>
                <a:latin typeface="Arial"/>
                <a:ea typeface="Google Sans"/>
                <a:cs typeface="Google Sans"/>
                <a:sym typeface="Google Sans"/>
              </a:rPr>
              <a:t>con Apache Flink y</a:t>
            </a:r>
          </a:p>
          <a:p>
            <a:pPr indent="0" lvl="0" marL="0" rtl="0" algn="l">
              <a:lnSpc>
                <a:spcPct val="90000"/>
              </a:lnSpc>
              <a:spcBef>
                <a:spcPts val="0"/>
              </a:spcBef>
              <a:spcAft>
                <a:spcPts val="1000"/>
              </a:spcAft>
              <a:buNone/>
            </a:pPr>
            <a:r>
              <a:rPr b="1" lang="en" sz="2600">
                <a:solidFill>
                  <a:schemeClr val="dk1"/>
                </a:solidFill>
                <a:latin typeface="Arial"/>
                <a:ea typeface="Google Sans"/>
                <a:cs typeface="Google Sans"/>
                <a:sym typeface="Google Sans"/>
              </a:rPr>
              <a:t>Spec Driven Development</a:t>
            </a:r>
          </a:p>
        </p:txBody>
      </p:sp>
      <p:sp>
        <p:nvSpPr>
          <p:cNvPr id="83" name="Google Shape;83;p23"/>
          <p:cNvSpPr txBox="1"/>
          <p:nvPr/>
        </p:nvSpPr>
        <p:spPr>
          <a:xfrm>
            <a:off x="369450" y="3246120"/>
            <a:ext cx="5486400" cy="21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500">
                <a:solidFill>
                  <a:schemeClr val="dk1"/>
                </a:solidFill>
                <a:latin typeface="Arial"/>
                <a:ea typeface="Google Sans"/>
                <a:cs typeface="Google Sans"/>
                <a:sym typeface="Google Sans"/>
              </a:rPr>
              <a:t>David Susanibar   ·   Jorge Alor</a:t>
            </a:r>
            <a:endParaRPr sz="1600">
              <a:solidFill>
                <a:schemeClr val="dk1"/>
              </a:solidFill>
              <a:latin typeface="Google Sans"/>
              <a:ea typeface="Google Sans"/>
              <a:cs typeface="Google Sans"/>
              <a:sym typeface="Google Sans"/>
            </a:endParaRPr>
          </a:p>
        </p:txBody>
      </p:sp>
      <p:sp>
        <p:nvSpPr>
          <p:cNvPr id="84" name="Google Shape;84;p23"/>
          <p:cNvSpPr txBox="1"/>
          <p:nvPr/>
        </p:nvSpPr>
        <p:spPr>
          <a:xfrm>
            <a:off x="369450" y="3611880"/>
            <a:ext cx="5486400" cy="21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chemeClr val="dk1"/>
                </a:solidFill>
                <a:latin typeface="Arial"/>
                <a:ea typeface="Google Sans"/>
                <a:cs typeface="Google Sans"/>
                <a:sym typeface="Google Sans"/>
              </a:rPr>
              <a:t>Head Data &amp; AI @ UTP   ·   Software Architect @ BCP</a:t>
            </a:r>
            <a:endParaRPr sz="1200">
              <a:solidFill>
                <a:schemeClr val="dk1"/>
              </a:solidFill>
              <a:latin typeface="Google Sans"/>
              <a:ea typeface="Google Sans"/>
              <a:cs typeface="Google Sans"/>
              <a:sym typeface="Google Sans"/>
            </a:endParaRPr>
          </a:p>
        </p:txBody>
      </p:sp>
      <p:sp>
        <p:nvSpPr>
          <p:cNvPr id="85" name="Google Shape;85;p23"/>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chemeClr val="dk1"/>
                </a:solidFill>
                <a:latin typeface="Arial"/>
                <a:ea typeface="Google Sans"/>
                <a:cs typeface="Google Sans"/>
                <a:sym typeface="Google Sans"/>
              </a:rPr>
              <a:t>Quiénes somos</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805675"/>
            <a:ext cx="313890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500">
                <a:solidFill>
                  <a:schemeClr val="dk1"/>
                </a:solidFill>
                <a:latin typeface="Arial"/>
                <a:ea typeface="Google Sans"/>
                <a:cs typeface="Google Sans"/>
                <a:sym typeface="Google Sans"/>
              </a:rPr>
              <a:t>David Susanibar — Head of Data &amp; AI en UTP</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500">
                <a:solidFill>
                  <a:schemeClr val="dk1"/>
                </a:solidFill>
                <a:latin typeface="Arial"/>
                <a:ea typeface="Google Sans"/>
                <a:cs typeface="Google Sans"/>
                <a:sym typeface="Google Sans"/>
              </a:rPr>
              <a:t>Jorge Alor — Software Architect en BCP</a:t>
            </a:r>
          </a:p>
          <a:p>
            <a:pPr indent="-342900" lvl="0" marL="457200" rtl="0" algn="l">
              <a:lnSpc>
                <a:spcPct val="150000"/>
              </a:lnSpc>
              <a:spcBef>
                <a:spcPts val="0"/>
              </a:spcBef>
              <a:spcAft>
                <a:spcPts val="0"/>
              </a:spcAft>
              <a:buClr>
                <a:schemeClr val="dk1"/>
              </a:buClr>
              <a:buSzPts val="1800"/>
              <a:buFont typeface="Google Sans"/>
              <a:buAutoNum type="arabicPeriod"/>
            </a:pPr>
            <a:r>
              <a:rPr lang="en" sz="1500">
                <a:solidFill>
                  <a:schemeClr val="dk1"/>
                </a:solidFill>
                <a:latin typeface="Arial"/>
                <a:ea typeface="Google Sans"/>
                <a:cs typeface="Google Sans"/>
                <a:sym typeface="Google Sans"/>
              </a:rPr>
              <a:t>Committer y contribuidor en proyectos de datos OSS</a:t>
            </a:r>
          </a:p>
          <a:p>
            <a:pPr indent="-342900" lvl="0" marL="457200" rtl="0" algn="l">
              <a:lnSpc>
                <a:spcPct val="150000"/>
              </a:lnSpc>
              <a:spcBef>
                <a:spcPts val="0"/>
              </a:spcBef>
              <a:spcAft>
                <a:spcPts val="0"/>
              </a:spcAft>
              <a:buClr>
                <a:schemeClr val="dk1"/>
              </a:buClr>
              <a:buSzPts val="1800"/>
              <a:buFont typeface="Google Sans"/>
              <a:buAutoNum type="arabicPeriod"/>
            </a:pPr>
            <a:r>
              <a:rPr lang="en" sz="1500">
                <a:solidFill>
                  <a:schemeClr val="dk1"/>
                </a:solidFill>
                <a:latin typeface="Arial"/>
                <a:ea typeface="Google Sans"/>
                <a:cs typeface="Google Sans"/>
                <a:sym typeface="Google Sans"/>
              </a:rPr>
              <a:t>Esta charla nace de un repo real, no de un slide</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27"/>
          <p:cNvSpPr txBox="1"/>
          <p:nvPr/>
        </p:nvSpPr>
        <p:spPr>
          <a:xfrm>
            <a:off x="771525" y="1890850"/>
            <a:ext cx="3577800" cy="191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latin typeface="Arial"/>
                <a:ea typeface="Google Sans"/>
                <a:cs typeface="Google Sans"/>
                <a:sym typeface="Google Sans"/>
              </a:rPr>
              <a:t>“La velocidad sin</a:t>
            </a:r>
            <a:endParaRPr b="1" sz="3000">
              <a:solidFill>
                <a:srgbClr val="000000"/>
              </a:solidFill>
              <a:latin typeface="Google Sans"/>
              <a:ea typeface="Google Sans"/>
              <a:cs typeface="Google Sans"/>
              <a:sym typeface="Google Sans"/>
            </a:endParaRPr>
          </a:p>
          <a:p>
            <a:pPr indent="0" lvl="0" marL="0" rtl="0" algn="l">
              <a:spcBef>
                <a:spcPts val="0"/>
              </a:spcBef>
              <a:spcAft>
                <a:spcPts val="0"/>
              </a:spcAft>
              <a:buNone/>
            </a:pPr>
            <a:r>
              <a:rPr b="1" lang="en" sz="2700">
                <a:latin typeface="Arial"/>
                <a:ea typeface="Google Sans"/>
                <a:cs typeface="Google Sans"/>
                <a:sym typeface="Google Sans"/>
              </a:rPr>
              <a:t>contrato desplaza</a:t>
            </a:r>
          </a:p>
          <a:p>
            <a:pPr indent="0" lvl="0" marL="0" rtl="0" algn="l">
              <a:spcBef>
                <a:spcPts val="0"/>
              </a:spcBef>
              <a:spcAft>
                <a:spcPts val="0"/>
              </a:spcAft>
              <a:buNone/>
            </a:pPr>
            <a:r>
              <a:rPr b="1" lang="en" sz="2700">
                <a:latin typeface="Arial"/>
                <a:ea typeface="Google Sans"/>
                <a:cs typeface="Google Sans"/>
                <a:sym typeface="Google Sans"/>
              </a:rPr>
              <a:t>decisiones a código</a:t>
            </a:r>
          </a:p>
          <a:p>
            <a:pPr indent="0" lvl="0" marL="0" rtl="0" algn="l">
              <a:spcBef>
                <a:spcPts val="0"/>
              </a:spcBef>
              <a:spcAft>
                <a:spcPts val="0"/>
              </a:spcAft>
              <a:buNone/>
            </a:pPr>
            <a:r>
              <a:rPr b="1" lang="en" sz="2700">
                <a:latin typeface="Arial"/>
                <a:ea typeface="Google Sans"/>
                <a:cs typeface="Google Sans"/>
                <a:sym typeface="Google Sans"/>
              </a:rPr>
              <a:t>y conversación”</a:t>
            </a:r>
          </a:p>
        </p:txBody>
      </p:sp>
      <p:sp>
        <p:nvSpPr>
          <p:cNvPr id="109" name="Google Shape;109;p27"/>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FFFFFF"/>
                </a:solidFill>
                <a:latin typeface="Google Sans"/>
                <a:ea typeface="Google Sans"/>
                <a:cs typeface="Google Sans"/>
                <a:sym typeface="Google Sans"/>
              </a:rPr>
              <a:t>KCD_Lima_Perú_2026</a:t>
            </a:r>
            <a:endParaRPr b="1" sz="1500">
              <a:solidFill>
                <a:srgbClr val="FFFFFF"/>
              </a:solidFill>
              <a:latin typeface="Google Sans"/>
              <a:ea typeface="Google Sans"/>
              <a:cs typeface="Google Sans"/>
              <a:sym typeface="Google Sans"/>
            </a:endParaRPr>
          </a:p>
        </p:txBody>
      </p:sp>
      <p:sp>
        <p:nvSpPr>
          <p:cNvPr id="110" name="TextBox 109"/>
          <p:cNvSpPr txBox="1"/>
          <p:nvPr/>
        </p:nvSpPr>
        <p:spPr>
          <a:xfrm>
            <a:off x="640080" y="640080"/>
            <a:ext cx="1645920" cy="1554480"/>
          </a:xfrm>
          <a:prstGeom prst="rect">
            <a:avLst/>
          </a:prstGeom>
          <a:noFill/>
        </p:spPr>
        <p:txBody>
          <a:bodyPr wrap="square" anchor="t" lIns="0" rIns="0" tIns="0" bIns="0">
            <a:spAutoFit/>
          </a:bodyPr>
          <a:lstStyle/>
          <a:p>
            <a:pPr algn="l"/>
            <a:r>
              <a:rPr sz="13000" b="1">
                <a:solidFill>
                  <a:srgbClr val="004CA8"/>
                </a:solidFill>
                <a:latin typeface="Arial"/>
              </a:rPr>
              <a:t>“</a:t>
            </a:r>
          </a:p>
        </p:txBody>
      </p:sp>
      <p:sp>
        <p:nvSpPr>
          <p:cNvPr id="111" name="TextBox 110"/>
          <p:cNvSpPr txBox="1"/>
          <p:nvPr/>
        </p:nvSpPr>
        <p:spPr>
          <a:xfrm>
            <a:off x="731520" y="4023360"/>
            <a:ext cx="3657600" cy="365760"/>
          </a:xfrm>
          <a:prstGeom prst="rect">
            <a:avLst/>
          </a:prstGeom>
          <a:noFill/>
        </p:spPr>
        <p:txBody>
          <a:bodyPr wrap="square" anchor="t" lIns="0" rIns="0" tIns="0" bIns="0">
            <a:spAutoFit/>
          </a:bodyPr>
          <a:lstStyle/>
          <a:p>
            <a:pPr algn="l"/>
            <a:r>
              <a:rPr sz="1100" b="0">
                <a:solidFill>
                  <a:srgbClr val="FFFFFF"/>
                </a:solidFill>
                <a:latin typeface="Arial"/>
              </a:rPr>
              <a:t>ADR-0002 · EDAIOS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chemeClr val="dk1"/>
                </a:solidFill>
                <a:latin typeface="Arial"/>
                <a:ea typeface="Google Sans"/>
                <a:cs typeface="Google Sans"/>
                <a:sym typeface="Google Sans"/>
              </a:rPr>
              <a:t>La patología del pipeline</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805675"/>
            <a:ext cx="393192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400">
                <a:solidFill>
                  <a:schemeClr val="dk1"/>
                </a:solidFill>
                <a:latin typeface="Arial"/>
                <a:ea typeface="Google Sans"/>
                <a:cs typeface="Google Sans"/>
                <a:sym typeface="Google Sans"/>
              </a:rPr>
              <a:t>El contrato del stream vive en el código</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400">
                <a:solidFill>
                  <a:schemeClr val="dk1"/>
                </a:solidFill>
                <a:latin typeface="Arial"/>
                <a:ea typeface="Google Sans"/>
                <a:cs typeface="Google Sans"/>
                <a:sym typeface="Google Sans"/>
              </a:rPr>
              <a:t>El porqué de esa ventana vive en un Slack borrado</a:t>
            </a:r>
          </a:p>
          <a:p>
            <a:pPr indent="-342900" lvl="0" marL="457200" rtl="0" algn="l">
              <a:lnSpc>
                <a:spcPct val="150000"/>
              </a:lnSpc>
              <a:spcBef>
                <a:spcPts val="0"/>
              </a:spcBef>
              <a:spcAft>
                <a:spcPts val="0"/>
              </a:spcAft>
              <a:buClr>
                <a:schemeClr val="dk1"/>
              </a:buClr>
              <a:buSzPts val="1800"/>
              <a:buFont typeface="Google Sans"/>
              <a:buAutoNum type="arabicPeriod"/>
            </a:pPr>
            <a:r>
              <a:rPr lang="en" sz="1400">
                <a:solidFill>
                  <a:schemeClr val="dk1"/>
                </a:solidFill>
                <a:latin typeface="Arial"/>
                <a:ea typeface="Google Sans"/>
                <a:cs typeface="Google Sans"/>
                <a:sym typeface="Google Sans"/>
              </a:rPr>
              <a:t>El .avsc y el doc dicen cosas distintas</a:t>
            </a:r>
          </a:p>
          <a:p>
            <a:pPr indent="-342900" lvl="0" marL="457200" rtl="0" algn="l">
              <a:lnSpc>
                <a:spcPct val="150000"/>
              </a:lnSpc>
              <a:spcBef>
                <a:spcPts val="0"/>
              </a:spcBef>
              <a:spcAft>
                <a:spcPts val="0"/>
              </a:spcAft>
              <a:buClr>
                <a:schemeClr val="dk1"/>
              </a:buClr>
              <a:buSzPts val="1800"/>
              <a:buFont typeface="Google Sans"/>
              <a:buAutoNum type="arabicPeriod"/>
            </a:pPr>
            <a:r>
              <a:rPr lang="en" sz="1400">
                <a:solidFill>
                  <a:schemeClr val="dk1"/>
                </a:solidFill>
                <a:latin typeface="Arial"/>
                <a:ea typeface="Google Sans"/>
                <a:cs typeface="Google Sans"/>
                <a:sym typeface="Google Sans"/>
              </a:rPr>
              <a:t>La demo verde se convierte en el claim de producción</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El mismo pipeline, dos veces</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Arriba: el contrato es implícito. Abajo: el contrato manda.</a:t>
            </a:r>
          </a:p>
        </p:txBody>
      </p:sp>
      <p:sp>
        <p:nvSpPr>
          <p:cNvPr id="93" name="Rounded Rectangle 92"/>
          <p:cNvSpPr/>
          <p:nvPr/>
        </p:nvSpPr>
        <p:spPr>
          <a:xfrm>
            <a:off x="640080" y="1691640"/>
            <a:ext cx="1371600" cy="502920"/>
          </a:xfrm>
          <a:prstGeom prst="roundRect">
            <a:avLst>
              <a:gd name="adj" fmla="val 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62626"/>
                </a:solidFill>
                <a:latin typeface="Arial"/>
              </a:rPr>
              <a:t>Kafka</a:t>
            </a:r>
          </a:p>
        </p:txBody>
      </p:sp>
      <p:cxnSp>
        <p:nvCxnSpPr>
          <p:cNvPr id="94" name="Connector 93"/>
          <p:cNvCxnSpPr/>
          <p:nvPr/>
        </p:nvCxnSpPr>
        <p:spPr>
          <a:xfrm>
            <a:off x="2011680" y="1938528"/>
            <a:ext cx="365759"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2377440" y="1691640"/>
            <a:ext cx="1371600" cy="502920"/>
          </a:xfrm>
          <a:prstGeom prst="roundRect">
            <a:avLst>
              <a:gd name="adj" fmla="val 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62626"/>
                </a:solidFill>
                <a:latin typeface="Arial"/>
              </a:rPr>
              <a:t>Flink</a:t>
            </a:r>
          </a:p>
        </p:txBody>
      </p:sp>
      <p:cxnSp>
        <p:nvCxnSpPr>
          <p:cNvPr id="96" name="Connector 95"/>
          <p:cNvCxnSpPr/>
          <p:nvPr/>
        </p:nvCxnSpPr>
        <p:spPr>
          <a:xfrm>
            <a:off x="3749039" y="1938528"/>
            <a:ext cx="365761"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Rounded Rectangle 96"/>
          <p:cNvSpPr/>
          <p:nvPr/>
        </p:nvSpPr>
        <p:spPr>
          <a:xfrm>
            <a:off x="4114800" y="1691640"/>
            <a:ext cx="1371600" cy="502920"/>
          </a:xfrm>
          <a:prstGeom prst="roundRect">
            <a:avLst>
              <a:gd name="adj" fmla="val 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62626"/>
                </a:solidFill>
                <a:latin typeface="Arial"/>
              </a:rPr>
              <a:t>Sink</a:t>
            </a:r>
          </a:p>
        </p:txBody>
      </p:sp>
      <p:sp>
        <p:nvSpPr>
          <p:cNvPr id="98" name="TextBox 97"/>
          <p:cNvSpPr txBox="1"/>
          <p:nvPr/>
        </p:nvSpPr>
        <p:spPr>
          <a:xfrm>
            <a:off x="5760720" y="1645920"/>
            <a:ext cx="2926080" cy="640080"/>
          </a:xfrm>
          <a:prstGeom prst="rect">
            <a:avLst/>
          </a:prstGeom>
          <a:noFill/>
        </p:spPr>
        <p:txBody>
          <a:bodyPr wrap="square" anchor="t" lIns="0" rIns="0" tIns="0" bIns="0">
            <a:spAutoFit/>
          </a:bodyPr>
          <a:lstStyle/>
          <a:p>
            <a:pPr algn="l"/>
            <a:r>
              <a:rPr sz="1100" b="0">
                <a:solidFill>
                  <a:srgbClr val="5A5A5A"/>
                </a:solidFill>
                <a:latin typeface="Arial"/>
              </a:rPr>
              <a:t>El contrato vive en el código.</a:t>
            </a:r>
          </a:p>
          <a:p>
            <a:pPr algn="l"/>
            <a:r>
              <a:rPr sz="1100" b="0">
                <a:solidFill>
                  <a:srgbClr val="5A5A5A"/>
                </a:solidFill>
                <a:latin typeface="Arial"/>
              </a:rPr>
              <a:t>Nadie sabe por qué esa ventana.</a:t>
            </a:r>
          </a:p>
        </p:txBody>
      </p:sp>
      <p:cxnSp>
        <p:nvCxnSpPr>
          <p:cNvPr id="99" name="Connector 98"/>
          <p:cNvCxnSpPr/>
          <p:nvPr/>
        </p:nvCxnSpPr>
        <p:spPr>
          <a:xfrm>
            <a:off x="4800600" y="2194560"/>
            <a:ext cx="0" cy="137160"/>
          </a:xfrm>
          <a:prstGeom prst="line">
            <a:avLst/>
          </a:prstGeom>
          <a:ln w="19050">
            <a:solidFill>
              <a:srgbClr val="C02F2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0" name="Rounded Rectangle 99"/>
          <p:cNvSpPr/>
          <p:nvPr/>
        </p:nvSpPr>
        <p:spPr>
          <a:xfrm>
            <a:off x="3931920" y="2331720"/>
            <a:ext cx="1737360" cy="320040"/>
          </a:xfrm>
          <a:prstGeom prst="roundRect">
            <a:avLst>
              <a:gd name="adj" fmla="val 8000"/>
            </a:avLst>
          </a:prstGeom>
          <a:solidFill>
            <a:srgbClr val="F2D5D5"/>
          </a:solidFill>
          <a:ln w="15875">
            <a:solidFill>
              <a:srgbClr val="C02F2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C02F2F"/>
                </a:solidFill>
                <a:latin typeface="Arial"/>
              </a:rPr>
              <a:t>deriva silenciosa</a:t>
            </a:r>
          </a:p>
        </p:txBody>
      </p:sp>
      <p:sp>
        <p:nvSpPr>
          <p:cNvPr id="101" name="Rounded Rectangle 100"/>
          <p:cNvSpPr/>
          <p:nvPr/>
        </p:nvSpPr>
        <p:spPr>
          <a:xfrm>
            <a:off x="1371600" y="3566160"/>
            <a:ext cx="1371600" cy="50292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62626"/>
                </a:solidFill>
                <a:latin typeface="Arial"/>
              </a:rPr>
              <a:t>Kafka</a:t>
            </a:r>
          </a:p>
        </p:txBody>
      </p:sp>
      <p:cxnSp>
        <p:nvCxnSpPr>
          <p:cNvPr id="102" name="Connector 101"/>
          <p:cNvCxnSpPr/>
          <p:nvPr/>
        </p:nvCxnSpPr>
        <p:spPr>
          <a:xfrm>
            <a:off x="2743200" y="3813048"/>
            <a:ext cx="365760" cy="0"/>
          </a:xfrm>
          <a:prstGeom prst="line">
            <a:avLst/>
          </a:prstGeom>
          <a:ln w="22225">
            <a:solidFill>
              <a:srgbClr val="0F87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Rounded Rectangle 102"/>
          <p:cNvSpPr/>
          <p:nvPr/>
        </p:nvSpPr>
        <p:spPr>
          <a:xfrm>
            <a:off x="3108960" y="3566160"/>
            <a:ext cx="1371600" cy="50292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62626"/>
                </a:solidFill>
                <a:latin typeface="Arial"/>
              </a:rPr>
              <a:t>Flink</a:t>
            </a:r>
          </a:p>
        </p:txBody>
      </p:sp>
      <p:cxnSp>
        <p:nvCxnSpPr>
          <p:cNvPr id="104" name="Connector 103"/>
          <p:cNvCxnSpPr/>
          <p:nvPr/>
        </p:nvCxnSpPr>
        <p:spPr>
          <a:xfrm>
            <a:off x="4480560" y="3813048"/>
            <a:ext cx="365760" cy="0"/>
          </a:xfrm>
          <a:prstGeom prst="line">
            <a:avLst/>
          </a:prstGeom>
          <a:ln w="22225">
            <a:solidFill>
              <a:srgbClr val="0F87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4846320" y="3566160"/>
            <a:ext cx="1371600" cy="50292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62626"/>
                </a:solidFill>
                <a:latin typeface="Arial"/>
              </a:rPr>
              <a:t>Sink</a:t>
            </a:r>
          </a:p>
        </p:txBody>
      </p:sp>
      <p:sp>
        <p:nvSpPr>
          <p:cNvPr id="106" name="Rounded Rectangle 105"/>
          <p:cNvSpPr/>
          <p:nvPr/>
        </p:nvSpPr>
        <p:spPr>
          <a:xfrm>
            <a:off x="3108960" y="2926080"/>
            <a:ext cx="1371600" cy="457200"/>
          </a:xfrm>
          <a:prstGeom prst="roundRect">
            <a:avLst>
              <a:gd name="adj" fmla="val 8000"/>
            </a:avLst>
          </a:prstGeom>
          <a:solidFill>
            <a:srgbClr val="0F8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Arial"/>
              </a:rPr>
              <a:t>spec.md</a:t>
            </a:r>
          </a:p>
        </p:txBody>
      </p:sp>
      <p:cxnSp>
        <p:nvCxnSpPr>
          <p:cNvPr id="107" name="Connector 106"/>
          <p:cNvCxnSpPr/>
          <p:nvPr/>
        </p:nvCxnSpPr>
        <p:spPr>
          <a:xfrm>
            <a:off x="3794760" y="3383280"/>
            <a:ext cx="0" cy="182880"/>
          </a:xfrm>
          <a:prstGeom prst="line">
            <a:avLst/>
          </a:prstGeom>
          <a:ln w="22225">
            <a:solidFill>
              <a:srgbClr val="0F87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 name="Rounded Rectangle 107"/>
          <p:cNvSpPr/>
          <p:nvPr/>
        </p:nvSpPr>
        <p:spPr>
          <a:xfrm>
            <a:off x="4846320" y="2926080"/>
            <a:ext cx="1371600" cy="457200"/>
          </a:xfrm>
          <a:prstGeom prst="roundRect">
            <a:avLst>
              <a:gd name="adj" fmla="val 8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Arial"/>
              </a:rPr>
              <a:t>gate</a:t>
            </a:r>
          </a:p>
        </p:txBody>
      </p:sp>
      <p:cxnSp>
        <p:nvCxnSpPr>
          <p:cNvPr id="109" name="Connector 108"/>
          <p:cNvCxnSpPr/>
          <p:nvPr/>
        </p:nvCxnSpPr>
        <p:spPr>
          <a:xfrm>
            <a:off x="5532120" y="3383280"/>
            <a:ext cx="0" cy="182880"/>
          </a:xfrm>
          <a:prstGeom prst="line">
            <a:avLst/>
          </a:prstGeom>
          <a:ln w="22225">
            <a:solidFill>
              <a:srgbClr val="1E7A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6492240" y="3383280"/>
            <a:ext cx="2194560" cy="777240"/>
          </a:xfrm>
          <a:prstGeom prst="rect">
            <a:avLst/>
          </a:prstGeom>
          <a:noFill/>
        </p:spPr>
        <p:txBody>
          <a:bodyPr wrap="square" anchor="t" lIns="0" rIns="0" tIns="0" bIns="0">
            <a:spAutoFit/>
          </a:bodyPr>
          <a:lstStyle/>
          <a:p>
            <a:pPr algn="l"/>
            <a:r>
              <a:rPr sz="1100" b="0">
                <a:solidFill>
                  <a:srgbClr val="262626"/>
                </a:solidFill>
                <a:latin typeface="Arial"/>
              </a:rPr>
              <a:t>El contrato es la fuente.</a:t>
            </a:r>
          </a:p>
          <a:p>
            <a:pPr algn="l"/>
            <a:r>
              <a:rPr sz="1100" b="0">
                <a:solidFill>
                  <a:srgbClr val="262626"/>
                </a:solidFill>
                <a:latin typeface="Arial"/>
              </a:rPr>
              <a:t>El gate falla si el código deriva.</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chemeClr val="dk1"/>
                </a:solidFill>
                <a:latin typeface="Arial"/>
                <a:ea typeface="Google Sans"/>
                <a:cs typeface="Google Sans"/>
                <a:sym typeface="Google Sans"/>
              </a:rPr>
              <a:t>La IA no crea el problema</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805675"/>
            <a:ext cx="393192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400">
                <a:solidFill>
                  <a:schemeClr val="dk1"/>
                </a:solidFill>
                <a:latin typeface="Arial"/>
                <a:ea typeface="Google Sans"/>
                <a:cs typeface="Google Sans"/>
                <a:sym typeface="Google Sans"/>
              </a:rPr>
              <a:t>Lo acelera. Genera pipelines más rápido de lo que podés revisarlos</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400">
                <a:solidFill>
                  <a:schemeClr val="dk1"/>
                </a:solidFill>
                <a:latin typeface="Arial"/>
                <a:ea typeface="Google Sans"/>
                <a:cs typeface="Google Sans"/>
                <a:sym typeface="Google Sans"/>
              </a:rPr>
              <a:t>Un agente no sabe qué decidió tu equipo hace seis meses</a:t>
            </a:r>
          </a:p>
          <a:p>
            <a:pPr indent="-342900" lvl="0" marL="457200" rtl="0" algn="l">
              <a:lnSpc>
                <a:spcPct val="150000"/>
              </a:lnSpc>
              <a:spcBef>
                <a:spcPts val="0"/>
              </a:spcBef>
              <a:spcAft>
                <a:spcPts val="0"/>
              </a:spcAft>
              <a:buClr>
                <a:schemeClr val="dk1"/>
              </a:buClr>
              <a:buSzPts val="1800"/>
              <a:buFont typeface="Google Sans"/>
              <a:buAutoNum type="arabicPeriod"/>
            </a:pPr>
            <a:r>
              <a:rPr lang="en" sz="1400">
                <a:solidFill>
                  <a:schemeClr val="dk1"/>
                </a:solidFill>
                <a:latin typeface="Arial"/>
                <a:ea typeface="Google Sans"/>
                <a:cs typeface="Google Sans"/>
                <a:sym typeface="Google Sans"/>
              </a:rPr>
              <a:t>Sin contrato explícito, la IA inventa uno plausible</a:t>
            </a:r>
          </a:p>
          <a:p>
            <a:pPr indent="-342900" lvl="0" marL="457200" rtl="0" algn="l">
              <a:lnSpc>
                <a:spcPct val="150000"/>
              </a:lnSpc>
              <a:spcBef>
                <a:spcPts val="0"/>
              </a:spcBef>
              <a:spcAft>
                <a:spcPts val="0"/>
              </a:spcAft>
              <a:buClr>
                <a:schemeClr val="dk1"/>
              </a:buClr>
              <a:buSzPts val="1800"/>
              <a:buFont typeface="Google Sans"/>
              <a:buAutoNum type="arabicPeriod"/>
            </a:pPr>
            <a:r>
              <a:rPr lang="en" sz="1400">
                <a:solidFill>
                  <a:schemeClr val="dk1"/>
                </a:solidFill>
                <a:latin typeface="Arial"/>
                <a:ea typeface="Google Sans"/>
                <a:cs typeface="Google Sans"/>
                <a:sym typeface="Google Sans"/>
              </a:rPr>
              <a:t>Velocidad sin gobierno = deuda técnica a escala industrial</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5"/>
          <p:cNvSpPr txBox="1"/>
          <p:nvPr/>
        </p:nvSpPr>
        <p:spPr>
          <a:xfrm>
            <a:off x="4304875" y="1330722"/>
            <a:ext cx="3566160" cy="1591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400">
                <a:solidFill>
                  <a:schemeClr val="dk1"/>
                </a:solidFill>
                <a:latin typeface="Arial"/>
                <a:ea typeface="Google Sans"/>
                <a:cs typeface="Google Sans"/>
                <a:sym typeface="Google Sans"/>
              </a:rPr>
              <a:t>¿Qué es</a:t>
            </a:r>
            <a:endParaRPr b="1" sz="4000">
              <a:solidFill>
                <a:schemeClr val="dk1"/>
              </a:solidFill>
              <a:latin typeface="Google Sans"/>
              <a:ea typeface="Google Sans"/>
              <a:cs typeface="Google Sans"/>
              <a:sym typeface="Google Sans"/>
            </a:endParaRPr>
          </a:p>
          <a:p>
            <a:pPr indent="0" lvl="0" marL="0" rtl="0" algn="l">
              <a:lnSpc>
                <a:spcPct val="90000"/>
              </a:lnSpc>
              <a:spcBef>
                <a:spcPts val="0"/>
              </a:spcBef>
              <a:spcAft>
                <a:spcPts val="1000"/>
              </a:spcAft>
              <a:buNone/>
            </a:pPr>
            <a:r>
              <a:rPr b="1" lang="en" sz="3400">
                <a:solidFill>
                  <a:schemeClr val="dk1"/>
                </a:solidFill>
                <a:latin typeface="Arial"/>
                <a:ea typeface="Google Sans"/>
                <a:cs typeface="Google Sans"/>
                <a:sym typeface="Google Sans"/>
              </a:rPr>
              <a:t>EDAIOS?</a:t>
            </a:r>
          </a:p>
        </p:txBody>
      </p:sp>
      <p:sp>
        <p:nvSpPr>
          <p:cNvPr id="96" name="Google Shape;96;p25"/>
          <p:cNvSpPr txBox="1"/>
          <p:nvPr/>
        </p:nvSpPr>
        <p:spPr>
          <a:xfrm>
            <a:off x="221550" y="177100"/>
            <a:ext cx="4053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FFFFFF"/>
                </a:solidFill>
                <a:latin typeface="Google Sans"/>
                <a:ea typeface="Google Sans"/>
                <a:cs typeface="Google Sans"/>
                <a:sym typeface="Google Sans"/>
              </a:rPr>
              <a:t>KCD_Lima_Perú_2026</a:t>
            </a:r>
            <a:endParaRPr b="1" sz="1200">
              <a:solidFill>
                <a:srgbClr val="FFFFFF"/>
              </a:solidFill>
              <a:latin typeface="Google Sans"/>
              <a:ea typeface="Google Sans"/>
              <a:cs typeface="Google Sans"/>
              <a:sym typeface="Google Sans"/>
            </a:endParaRPr>
          </a:p>
        </p:txBody>
      </p:sp>
      <p:sp>
        <p:nvSpPr>
          <p:cNvPr id="97" name="TextBox 96"/>
          <p:cNvSpPr txBox="1"/>
          <p:nvPr/>
        </p:nvSpPr>
        <p:spPr>
          <a:xfrm>
            <a:off x="822960" y="1737360"/>
            <a:ext cx="2011680" cy="1371600"/>
          </a:xfrm>
          <a:prstGeom prst="rect">
            <a:avLst/>
          </a:prstGeom>
          <a:noFill/>
        </p:spPr>
        <p:txBody>
          <a:bodyPr wrap="square" anchor="t" lIns="0" rIns="0" tIns="0" bIns="0">
            <a:spAutoFit/>
          </a:bodyPr>
          <a:lstStyle/>
          <a:p>
            <a:pPr algn="l"/>
            <a:r>
              <a:rPr sz="9000" b="1">
                <a:solidFill>
                  <a:srgbClr val="FFFFFF"/>
                </a:solidFill>
                <a:latin typeface="Arial"/>
              </a:rPr>
              <a:t>01</a:t>
            </a:r>
          </a:p>
        </p:txBody>
      </p:sp>
      <p:sp>
        <p:nvSpPr>
          <p:cNvPr id="98" name="TextBox 97"/>
          <p:cNvSpPr txBox="1"/>
          <p:nvPr/>
        </p:nvSpPr>
        <p:spPr>
          <a:xfrm>
            <a:off x="4304875" y="3031950"/>
            <a:ext cx="3566160" cy="365760"/>
          </a:xfrm>
          <a:prstGeom prst="rect">
            <a:avLst/>
          </a:prstGeom>
          <a:noFill/>
        </p:spPr>
        <p:txBody>
          <a:bodyPr wrap="square" anchor="t" lIns="0" rIns="0" tIns="0" bIns="0">
            <a:spAutoFit/>
          </a:bodyPr>
          <a:lstStyle/>
          <a:p>
            <a:pPr algn="l"/>
            <a:r>
              <a:rPr sz="1200" b="0">
                <a:solidFill>
                  <a:srgbClr val="5A5A5A"/>
                </a:solidFill>
                <a:latin typeface="Arial"/>
              </a:rPr>
              <a:t>El sistema de gobierno</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chemeClr val="dk1"/>
                </a:solidFill>
                <a:latin typeface="Arial"/>
                <a:ea typeface="Google Sans"/>
                <a:cs typeface="Google Sans"/>
                <a:sym typeface="Google Sans"/>
              </a:rPr>
              <a:t>Knowledge First</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2651760"/>
            <a:ext cx="402336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El código puede cambiar. La arquitectura puede evolucionar.</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Las herramientas pueden reemplazarse.</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El conocimiento debe preservarse.</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621792" y="1737360"/>
            <a:ext cx="4023360" cy="822960"/>
          </a:xfrm>
          <a:prstGeom prst="rect">
            <a:avLst/>
          </a:prstGeom>
          <a:noFill/>
        </p:spPr>
        <p:txBody>
          <a:bodyPr wrap="square" anchor="t" lIns="0" rIns="0" tIns="0" bIns="0">
            <a:spAutoFit/>
          </a:bodyPr>
          <a:lstStyle/>
          <a:p>
            <a:pPr algn="l"/>
            <a:r>
              <a:rPr sz="1500" b="1">
                <a:solidFill>
                  <a:srgbClr val="FFFFFF"/>
                </a:solidFill>
                <a:latin typeface="Arial"/>
              </a:rPr>
              <a:t>“El conocimiento es el producto principal</a:t>
            </a:r>
          </a:p>
          <a:p>
            <a:pPr algn="l"/>
            <a:r>
              <a:rPr sz="1500" b="1">
                <a:solidFill>
                  <a:srgbClr val="FFFFFF"/>
                </a:solidFill>
                <a:latin typeface="Arial"/>
              </a:rPr>
              <a:t>y el software su consecuencia”</a:t>
            </a:r>
          </a:p>
        </p:txBody>
      </p:sp>
      <p:sp>
        <p:nvSpPr>
          <p:cNvPr id="105" name="TextBox 104"/>
          <p:cNvSpPr txBox="1"/>
          <p:nvPr/>
        </p:nvSpPr>
        <p:spPr>
          <a:xfrm>
            <a:off x="621792" y="4206240"/>
            <a:ext cx="4023360" cy="320040"/>
          </a:xfrm>
          <a:prstGeom prst="rect">
            <a:avLst/>
          </a:prstGeom>
          <a:noFill/>
        </p:spPr>
        <p:txBody>
          <a:bodyPr wrap="square" anchor="t" lIns="0" rIns="0" tIns="0" bIns="0">
            <a:spAutoFit/>
          </a:bodyPr>
          <a:lstStyle/>
          <a:p>
            <a:pPr algn="l"/>
            <a:r>
              <a:rPr sz="1000" b="0">
                <a:solidFill>
                  <a:srgbClr val="FFFFFF"/>
                </a:solidFill>
                <a:latin typeface="Arial"/>
              </a:rPr>
              <a:t>ART-008 · ART-000 · Foundation</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27"/>
          <p:cNvSpPr txBox="1"/>
          <p:nvPr/>
        </p:nvSpPr>
        <p:spPr>
          <a:xfrm>
            <a:off x="771525" y="1890850"/>
            <a:ext cx="3577800" cy="191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latin typeface="Arial"/>
                <a:ea typeface="Google Sans"/>
                <a:cs typeface="Google Sans"/>
                <a:sym typeface="Google Sans"/>
              </a:rPr>
              <a:t>“La IA consume</a:t>
            </a:r>
            <a:endParaRPr b="1" sz="3000">
              <a:solidFill>
                <a:srgbClr val="000000"/>
              </a:solidFill>
              <a:latin typeface="Google Sans"/>
              <a:ea typeface="Google Sans"/>
              <a:cs typeface="Google Sans"/>
              <a:sym typeface="Google Sans"/>
            </a:endParaRPr>
          </a:p>
          <a:p>
            <a:pPr indent="0" lvl="0" marL="0" rtl="0" algn="l">
              <a:spcBef>
                <a:spcPts val="0"/>
              </a:spcBef>
              <a:spcAft>
                <a:spcPts val="0"/>
              </a:spcAft>
              <a:buNone/>
            </a:pPr>
            <a:r>
              <a:rPr b="1" lang="en" sz="2700">
                <a:latin typeface="Arial"/>
                <a:ea typeface="Google Sans"/>
                <a:cs typeface="Google Sans"/>
                <a:sym typeface="Google Sans"/>
              </a:rPr>
              <a:t>el conocimiento;</a:t>
            </a:r>
          </a:p>
          <a:p>
            <a:pPr indent="0" lvl="0" marL="0" rtl="0" algn="l">
              <a:spcBef>
                <a:spcPts val="0"/>
              </a:spcBef>
              <a:spcAft>
                <a:spcPts val="0"/>
              </a:spcAft>
              <a:buNone/>
            </a:pPr>
            <a:r>
              <a:rPr b="1" lang="en" sz="2700">
                <a:latin typeface="Arial"/>
                <a:ea typeface="Google Sans"/>
                <a:cs typeface="Google Sans"/>
                <a:sym typeface="Google Sans"/>
              </a:rPr>
              <a:t>no lo origina”</a:t>
            </a:r>
          </a:p>
        </p:txBody>
      </p:sp>
      <p:sp>
        <p:nvSpPr>
          <p:cNvPr id="109" name="Google Shape;109;p27"/>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FFFFFF"/>
                </a:solidFill>
                <a:latin typeface="Google Sans"/>
                <a:ea typeface="Google Sans"/>
                <a:cs typeface="Google Sans"/>
                <a:sym typeface="Google Sans"/>
              </a:rPr>
              <a:t>KCD_Lima_Perú_2026</a:t>
            </a:r>
            <a:endParaRPr b="1" sz="1500">
              <a:solidFill>
                <a:srgbClr val="FFFFFF"/>
              </a:solidFill>
              <a:latin typeface="Google Sans"/>
              <a:ea typeface="Google Sans"/>
              <a:cs typeface="Google Sans"/>
              <a:sym typeface="Google Sans"/>
            </a:endParaRPr>
          </a:p>
        </p:txBody>
      </p:sp>
      <p:sp>
        <p:nvSpPr>
          <p:cNvPr id="110" name="TextBox 109"/>
          <p:cNvSpPr txBox="1"/>
          <p:nvPr/>
        </p:nvSpPr>
        <p:spPr>
          <a:xfrm>
            <a:off x="640080" y="640080"/>
            <a:ext cx="1645920" cy="1554480"/>
          </a:xfrm>
          <a:prstGeom prst="rect">
            <a:avLst/>
          </a:prstGeom>
          <a:noFill/>
        </p:spPr>
        <p:txBody>
          <a:bodyPr wrap="square" anchor="t" lIns="0" rIns="0" tIns="0" bIns="0">
            <a:spAutoFit/>
          </a:bodyPr>
          <a:lstStyle/>
          <a:p>
            <a:pPr algn="l"/>
            <a:r>
              <a:rPr sz="13000" b="1">
                <a:solidFill>
                  <a:srgbClr val="004CA8"/>
                </a:solidFill>
                <a:latin typeface="Arial"/>
              </a:rPr>
              <a:t>“</a:t>
            </a:r>
          </a:p>
        </p:txBody>
      </p:sp>
      <p:sp>
        <p:nvSpPr>
          <p:cNvPr id="111" name="TextBox 110"/>
          <p:cNvSpPr txBox="1"/>
          <p:nvPr/>
        </p:nvSpPr>
        <p:spPr>
          <a:xfrm>
            <a:off x="731520" y="4023360"/>
            <a:ext cx="3657600" cy="365760"/>
          </a:xfrm>
          <a:prstGeom prst="rect">
            <a:avLst/>
          </a:prstGeom>
          <a:noFill/>
        </p:spPr>
        <p:txBody>
          <a:bodyPr wrap="square" anchor="t" lIns="0" rIns="0" tIns="0" bIns="0">
            <a:spAutoFit/>
          </a:bodyPr>
          <a:lstStyle/>
          <a:p>
            <a:pPr algn="l"/>
            <a:r>
              <a:rPr sz="1100" b="0">
                <a:solidFill>
                  <a:srgbClr val="FFFFFF"/>
                </a:solidFill>
                <a:latin typeface="Arial"/>
              </a:rPr>
              <a:t>core/foundation/identity</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Foundation → Core → Consumer</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La jerarquía nunca se invierte. Una vista no ratifica lo que la origina.</a:t>
            </a:r>
          </a:p>
        </p:txBody>
      </p:sp>
      <p:sp>
        <p:nvSpPr>
          <p:cNvPr id="93" name="Rounded Rectangle 92"/>
          <p:cNvSpPr/>
          <p:nvPr/>
        </p:nvSpPr>
        <p:spPr>
          <a:xfrm>
            <a:off x="1325880" y="1600200"/>
            <a:ext cx="2194560" cy="658368"/>
          </a:xfrm>
          <a:prstGeom prst="roundRect">
            <a:avLst>
              <a:gd name="adj" fmla="val 8000"/>
            </a:avLst>
          </a:prstGeom>
          <a:solidFill>
            <a:srgbClr val="004C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Arial"/>
              </a:rPr>
              <a:t>Foundation</a:t>
            </a:r>
          </a:p>
        </p:txBody>
      </p:sp>
      <p:sp>
        <p:nvSpPr>
          <p:cNvPr id="94" name="TextBox 93"/>
          <p:cNvSpPr txBox="1"/>
          <p:nvPr/>
        </p:nvSpPr>
        <p:spPr>
          <a:xfrm>
            <a:off x="3749039" y="1645920"/>
            <a:ext cx="3017520" cy="594360"/>
          </a:xfrm>
          <a:prstGeom prst="rect">
            <a:avLst/>
          </a:prstGeom>
          <a:noFill/>
        </p:spPr>
        <p:txBody>
          <a:bodyPr wrap="square" anchor="t" lIns="0" rIns="0" tIns="0" bIns="0">
            <a:spAutoFit/>
          </a:bodyPr>
          <a:lstStyle/>
          <a:p>
            <a:pPr algn="l"/>
            <a:r>
              <a:rPr sz="1100" b="0">
                <a:solidFill>
                  <a:srgbClr val="262626"/>
                </a:solidFill>
                <a:latin typeface="Arial"/>
              </a:rPr>
              <a:t>Constitución · Ontología · KOM</a:t>
            </a:r>
          </a:p>
          <a:p>
            <a:pPr algn="l"/>
            <a:r>
              <a:rPr sz="1100" b="0">
                <a:solidFill>
                  <a:srgbClr val="262626"/>
                </a:solidFill>
                <a:latin typeface="Arial"/>
              </a:rPr>
              <a:t>Autoridad. Ratificado en Git.</a:t>
            </a:r>
          </a:p>
        </p:txBody>
      </p:sp>
      <p:sp>
        <p:nvSpPr>
          <p:cNvPr id="95" name="Rounded Rectangle 94"/>
          <p:cNvSpPr/>
          <p:nvPr/>
        </p:nvSpPr>
        <p:spPr>
          <a:xfrm>
            <a:off x="1325880" y="2532888"/>
            <a:ext cx="2194560" cy="658368"/>
          </a:xfrm>
          <a:prstGeom prst="roundRect">
            <a:avLst>
              <a:gd name="adj" fmla="val 8000"/>
            </a:avLst>
          </a:prstGeom>
          <a:solidFill>
            <a:srgbClr val="0F8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Arial"/>
              </a:rPr>
              <a:t>Core</a:t>
            </a:r>
          </a:p>
        </p:txBody>
      </p:sp>
      <p:sp>
        <p:nvSpPr>
          <p:cNvPr id="96" name="TextBox 95"/>
          <p:cNvSpPr txBox="1"/>
          <p:nvPr/>
        </p:nvSpPr>
        <p:spPr>
          <a:xfrm>
            <a:off x="3749039" y="2578608"/>
            <a:ext cx="3017520" cy="594360"/>
          </a:xfrm>
          <a:prstGeom prst="rect">
            <a:avLst/>
          </a:prstGeom>
          <a:noFill/>
        </p:spPr>
        <p:txBody>
          <a:bodyPr wrap="square" anchor="t" lIns="0" rIns="0" tIns="0" bIns="0">
            <a:spAutoFit/>
          </a:bodyPr>
          <a:lstStyle/>
          <a:p>
            <a:pPr algn="l"/>
            <a:r>
              <a:rPr sz="1100" b="0">
                <a:solidFill>
                  <a:srgbClr val="262626"/>
                </a:solidFill>
                <a:latin typeface="Arial"/>
              </a:rPr>
              <a:t>Contratos · schemas · gates</a:t>
            </a:r>
          </a:p>
          <a:p>
            <a:pPr algn="l"/>
            <a:r>
              <a:rPr sz="1100" b="0">
                <a:solidFill>
                  <a:srgbClr val="262626"/>
                </a:solidFill>
                <a:latin typeface="Arial"/>
              </a:rPr>
              <a:t>Aplica el gobierno; no lo ratifica.</a:t>
            </a:r>
          </a:p>
        </p:txBody>
      </p:sp>
      <p:sp>
        <p:nvSpPr>
          <p:cNvPr id="97" name="Rounded Rectangle 96"/>
          <p:cNvSpPr/>
          <p:nvPr/>
        </p:nvSpPr>
        <p:spPr>
          <a:xfrm>
            <a:off x="1325880" y="3465576"/>
            <a:ext cx="2194560" cy="658368"/>
          </a:xfrm>
          <a:prstGeom prst="roundRect">
            <a:avLst>
              <a:gd name="adj" fmla="val 8000"/>
            </a:avLst>
          </a:prstGeom>
          <a:solidFill>
            <a:srgbClr val="7AB8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262626"/>
                </a:solidFill>
                <a:latin typeface="Arial"/>
              </a:rPr>
              <a:t>Consumer</a:t>
            </a:r>
          </a:p>
        </p:txBody>
      </p:sp>
      <p:sp>
        <p:nvSpPr>
          <p:cNvPr id="98" name="TextBox 97"/>
          <p:cNvSpPr txBox="1"/>
          <p:nvPr/>
        </p:nvSpPr>
        <p:spPr>
          <a:xfrm>
            <a:off x="3749039" y="3511296"/>
            <a:ext cx="3017520" cy="594360"/>
          </a:xfrm>
          <a:prstGeom prst="rect">
            <a:avLst/>
          </a:prstGeom>
          <a:noFill/>
        </p:spPr>
        <p:txBody>
          <a:bodyPr wrap="square" anchor="t" lIns="0" rIns="0" tIns="0" bIns="0">
            <a:spAutoFit/>
          </a:bodyPr>
          <a:lstStyle/>
          <a:p>
            <a:pPr algn="l"/>
            <a:r>
              <a:rPr sz="1100" b="0">
                <a:solidFill>
                  <a:srgbClr val="262626"/>
                </a:solidFill>
                <a:latin typeface="Arial"/>
              </a:rPr>
              <a:t>CLI · demos · decks · pipelines</a:t>
            </a:r>
          </a:p>
          <a:p>
            <a:pPr algn="l"/>
            <a:r>
              <a:rPr sz="1100" b="0">
                <a:solidFill>
                  <a:srgbClr val="262626"/>
                </a:solidFill>
                <a:latin typeface="Arial"/>
              </a:rPr>
              <a:t>Consume. Regenerable.</a:t>
            </a:r>
          </a:p>
        </p:txBody>
      </p:sp>
      <p:cxnSp>
        <p:nvCxnSpPr>
          <p:cNvPr id="99" name="Connector 98"/>
          <p:cNvCxnSpPr/>
          <p:nvPr/>
        </p:nvCxnSpPr>
        <p:spPr>
          <a:xfrm>
            <a:off x="2423160" y="2258568"/>
            <a:ext cx="0" cy="27432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2423160" y="3191256"/>
            <a:ext cx="0" cy="27432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7040880" y="2194560"/>
            <a:ext cx="1645920" cy="1371600"/>
          </a:xfrm>
          <a:prstGeom prst="roundRect">
            <a:avLst>
              <a:gd name="adj" fmla="val 8000"/>
            </a:avLst>
          </a:prstGeom>
          <a:solidFill>
            <a:srgbClr val="F7E9E9"/>
          </a:solidFill>
          <a:ln w="15875">
            <a:solidFill>
              <a:srgbClr val="C02F2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C02F2F"/>
                </a:solidFill>
                <a:latin typeface="Arial"/>
              </a:rPr>
              <a:t>✗</a:t>
            </a:r>
          </a:p>
          <a:p>
            <a:pPr algn="ctr"/>
            <a:r>
              <a:rPr sz="1100" b="0">
                <a:solidFill>
                  <a:srgbClr val="C02F2F"/>
                </a:solidFill>
                <a:latin typeface="Arial"/>
              </a:rPr>
              <a:t>Un consumer no</a:t>
            </a:r>
          </a:p>
          <a:p>
            <a:pPr algn="ctr"/>
            <a:r>
              <a:rPr sz="1100" b="0">
                <a:solidFill>
                  <a:srgbClr val="C02F2F"/>
                </a:solidFill>
                <a:latin typeface="Arial"/>
              </a:rPr>
              <a:t>puede gobernar</a:t>
            </a:r>
          </a:p>
          <a:p>
            <a:pPr algn="ctr"/>
            <a:r>
              <a:rPr sz="1100" b="0">
                <a:solidFill>
                  <a:srgbClr val="C02F2F"/>
                </a:solidFill>
                <a:latin typeface="Arial"/>
              </a:rPr>
              <a:t>a Foundation</a:t>
            </a:r>
          </a:p>
          <a:p>
            <a:pPr algn="ctr"/>
            <a:r>
              <a:rPr sz="1100" b="0">
                <a:solidFill>
                  <a:srgbClr val="C02F2F"/>
                </a:solidFill>
                <a:latin typeface="Arial"/>
              </a:rPr>
              <a:t/>
            </a:r>
          </a:p>
          <a:p>
            <a:pPr algn="ctr"/>
            <a:r>
              <a:rPr sz="1100" b="0">
                <a:solidFill>
                  <a:srgbClr val="C02F2F"/>
                </a:solidFill>
                <a:latin typeface="Arial"/>
              </a:rPr>
              <a:t>KOM-VR-08</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chemeClr val="dk1"/>
                </a:solidFill>
                <a:latin typeface="Arial"/>
                <a:ea typeface="Google Sans"/>
                <a:cs typeface="Google Sans"/>
                <a:sym typeface="Google Sans"/>
              </a:rPr>
              <a:t>La constitución: 7 artículos</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691640"/>
            <a:ext cx="3840480" cy="265176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I — El conocimiento manda</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II — Spec antes que artefacto</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III — El canon crece por decisión</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IV — Cero cifras sin fuente</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V — Una fuente, muchas vistas</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VI — La IA consume; el humano firma</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VII — Privacidad por diseño</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La constitución no se escribe: se compila</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Y no cita a Foundation: falla si Foundation dejó de decir lo que ella afirma.</a:t>
            </a:r>
          </a:p>
        </p:txBody>
      </p:sp>
      <p:sp>
        <p:nvSpPr>
          <p:cNvPr id="93" name="Rounded Rectangle 92"/>
          <p:cNvSpPr/>
          <p:nvPr/>
        </p:nvSpPr>
        <p:spPr>
          <a:xfrm>
            <a:off x="640080" y="1783080"/>
            <a:ext cx="201168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constitution</a:t>
            </a:r>
          </a:p>
          <a:p>
            <a:pPr algn="ctr"/>
            <a:r>
              <a:rPr sz="900" b="0">
                <a:solidFill>
                  <a:srgbClr val="262626"/>
                </a:solidFill>
                <a:latin typeface="Arial"/>
              </a:rPr>
              <a:t>.src.json</a:t>
            </a:r>
          </a:p>
        </p:txBody>
      </p:sp>
      <p:sp>
        <p:nvSpPr>
          <p:cNvPr id="94" name="Rounded Rectangle 93"/>
          <p:cNvSpPr/>
          <p:nvPr/>
        </p:nvSpPr>
        <p:spPr>
          <a:xfrm>
            <a:off x="3200400" y="1783080"/>
            <a:ext cx="2011680" cy="685800"/>
          </a:xfrm>
          <a:prstGeom prst="roundRect">
            <a:avLst>
              <a:gd name="adj" fmla="val 8000"/>
            </a:avLst>
          </a:prstGeom>
          <a:solidFill>
            <a:srgbClr val="0F8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Arial"/>
              </a:rPr>
              <a:t>compile_constitution.py</a:t>
            </a:r>
          </a:p>
        </p:txBody>
      </p:sp>
      <p:sp>
        <p:nvSpPr>
          <p:cNvPr id="95" name="Rounded Rectangle 94"/>
          <p:cNvSpPr/>
          <p:nvPr/>
        </p:nvSpPr>
        <p:spPr>
          <a:xfrm>
            <a:off x="5760720" y="1783080"/>
            <a:ext cx="2011680" cy="685800"/>
          </a:xfrm>
          <a:prstGeom prst="roundRect">
            <a:avLst>
              <a:gd name="adj" fmla="val 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62626"/>
                </a:solidFill>
                <a:latin typeface="Arial"/>
              </a:rPr>
              <a:t>constitution.md</a:t>
            </a:r>
          </a:p>
          <a:p>
            <a:pPr algn="ctr"/>
            <a:r>
              <a:rPr sz="900" b="0">
                <a:solidFill>
                  <a:srgbClr val="262626"/>
                </a:solidFill>
                <a:latin typeface="Arial"/>
              </a:rPr>
              <a:t>derivado, no editar</a:t>
            </a:r>
          </a:p>
        </p:txBody>
      </p:sp>
      <p:cxnSp>
        <p:nvCxnSpPr>
          <p:cNvPr id="96" name="Connector 95"/>
          <p:cNvCxnSpPr/>
          <p:nvPr/>
        </p:nvCxnSpPr>
        <p:spPr>
          <a:xfrm>
            <a:off x="2651760" y="2121408"/>
            <a:ext cx="548640" cy="0"/>
          </a:xfrm>
          <a:prstGeom prst="line">
            <a:avLst/>
          </a:prstGeom>
          <a:ln w="22225">
            <a:solidFill>
              <a:srgbClr val="0F87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212080" y="2121408"/>
            <a:ext cx="548640" cy="0"/>
          </a:xfrm>
          <a:prstGeom prst="line">
            <a:avLst/>
          </a:prstGeom>
          <a:ln w="22225">
            <a:solidFill>
              <a:srgbClr val="0F87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Rounded Rectangle 97"/>
          <p:cNvSpPr/>
          <p:nvPr/>
        </p:nvSpPr>
        <p:spPr>
          <a:xfrm>
            <a:off x="640080" y="2834640"/>
            <a:ext cx="2011680" cy="594360"/>
          </a:xfrm>
          <a:prstGeom prst="roundRect">
            <a:avLst>
              <a:gd name="adj" fmla="val 8000"/>
            </a:avLst>
          </a:prstGeom>
          <a:solidFill>
            <a:srgbClr val="E3EEFB"/>
          </a:solidFill>
          <a:ln w="15875">
            <a:solidFill>
              <a:srgbClr val="004CA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62626"/>
                </a:solidFill>
                <a:latin typeface="Arial"/>
              </a:rPr>
              <a:t>Foundation</a:t>
            </a:r>
          </a:p>
          <a:p>
            <a:pPr algn="ctr"/>
            <a:r>
              <a:rPr sz="900" b="0">
                <a:solidFill>
                  <a:srgbClr val="262626"/>
                </a:solidFill>
                <a:latin typeface="Arial"/>
              </a:rPr>
              <a:t>ART-000, KOM…</a:t>
            </a:r>
          </a:p>
        </p:txBody>
      </p:sp>
      <p:cxnSp>
        <p:nvCxnSpPr>
          <p:cNvPr id="99" name="Connector 98"/>
          <p:cNvCxnSpPr/>
          <p:nvPr/>
        </p:nvCxnSpPr>
        <p:spPr>
          <a:xfrm flipV="1">
            <a:off x="1645920" y="2468880"/>
            <a:ext cx="0" cy="365760"/>
          </a:xfrm>
          <a:prstGeom prst="line">
            <a:avLst/>
          </a:prstGeom>
          <a:ln w="22225">
            <a:solidFill>
              <a:srgbClr val="004C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3200400" y="2788920"/>
            <a:ext cx="4572000" cy="685800"/>
          </a:xfrm>
          <a:prstGeom prst="rect">
            <a:avLst/>
          </a:prstGeom>
          <a:noFill/>
        </p:spPr>
        <p:txBody>
          <a:bodyPr wrap="square" anchor="t" lIns="0" rIns="0" tIns="0" bIns="0">
            <a:spAutoFit/>
          </a:bodyPr>
          <a:lstStyle/>
          <a:p>
            <a:pPr algn="l"/>
            <a:r>
              <a:rPr sz="1100" b="0">
                <a:solidFill>
                  <a:srgbClr val="262626"/>
                </a:solidFill>
                <a:latin typeface="Arial"/>
              </a:rPr>
              <a:t>El compilador abre cada archivo de Foundation y verifica</a:t>
            </a:r>
          </a:p>
          <a:p>
            <a:pPr algn="l"/>
            <a:r>
              <a:rPr sz="1100" b="0">
                <a:solidFill>
                  <a:srgbClr val="262626"/>
                </a:solidFill>
                <a:latin typeface="Arial"/>
              </a:rPr>
              <a:t>que el substring declarado en contains siga presente.</a:t>
            </a:r>
          </a:p>
        </p:txBody>
      </p:sp>
      <p:sp>
        <p:nvSpPr>
          <p:cNvPr id="101" name="Rectangle 100"/>
          <p:cNvSpPr/>
          <p:nvPr/>
        </p:nvSpPr>
        <p:spPr>
          <a:xfrm>
            <a:off x="3566160" y="3566160"/>
            <a:ext cx="4572000" cy="765810"/>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2" name="Rectangle 101"/>
          <p:cNvSpPr/>
          <p:nvPr/>
        </p:nvSpPr>
        <p:spPr>
          <a:xfrm>
            <a:off x="3566160" y="3566160"/>
            <a:ext cx="4572000"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3" name="TextBox 102"/>
          <p:cNvSpPr txBox="1"/>
          <p:nvPr/>
        </p:nvSpPr>
        <p:spPr>
          <a:xfrm>
            <a:off x="3675887" y="3589020"/>
            <a:ext cx="4352544" cy="182880"/>
          </a:xfrm>
          <a:prstGeom prst="rect">
            <a:avLst/>
          </a:prstGeom>
          <a:noFill/>
        </p:spPr>
        <p:txBody>
          <a:bodyPr wrap="none" lIns="0" rIns="0" tIns="0" bIns="0">
            <a:spAutoFit/>
          </a:bodyPr>
          <a:lstStyle/>
          <a:p>
            <a:r>
              <a:rPr sz="900">
                <a:solidFill>
                  <a:srgbClr val="A0A0A8"/>
                </a:solidFill>
                <a:latin typeface="Courier New"/>
              </a:rPr>
              <a:t>compile_constitution.py</a:t>
            </a:r>
          </a:p>
        </p:txBody>
      </p:sp>
      <p:sp>
        <p:nvSpPr>
          <p:cNvPr id="104" name="TextBox 103"/>
          <p:cNvSpPr txBox="1"/>
          <p:nvPr/>
        </p:nvSpPr>
        <p:spPr>
          <a:xfrm>
            <a:off x="3675887" y="3904487"/>
            <a:ext cx="4352544" cy="308610"/>
          </a:xfrm>
          <a:prstGeom prst="rect">
            <a:avLst/>
          </a:prstGeom>
          <a:noFill/>
        </p:spPr>
        <p:txBody>
          <a:bodyPr wrap="none" lIns="0" rIns="0" tIns="0" bIns="0">
            <a:spAutoFit/>
          </a:bodyPr>
          <a:lstStyle/>
          <a:p>
            <a:pPr>
              <a:lnSpc>
                <a:spcPts val="1215"/>
              </a:lnSpc>
            </a:pPr>
            <a:r>
              <a:rPr sz="900">
                <a:solidFill>
                  <a:srgbClr val="D8D8DC"/>
                </a:solidFill>
                <a:latin typeface="Courier New"/>
              </a:rPr>
              <a:t>if article["contains"] not in fuente.casefold():</a:t>
            </a:r>
          </a:p>
          <a:p>
            <a:pPr>
              <a:lnSpc>
                <a:spcPts val="1215"/>
              </a:lnSpc>
            </a:pPr>
            <a:r>
              <a:rPr sz="900">
                <a:solidFill>
                  <a:srgbClr val="D8D8DC"/>
                </a:solidFill>
                <a:latin typeface="Courier New"/>
              </a:rPr>
              <a:t>    raise SystemExit(f"{id}: deriva en {source}")</a:t>
            </a:r>
          </a:p>
        </p:txBody>
      </p:sp>
      <p:sp>
        <p:nvSpPr>
          <p:cNvPr id="105" name="TextBox 104"/>
          <p:cNvSpPr txBox="1"/>
          <p:nvPr/>
        </p:nvSpPr>
        <p:spPr>
          <a:xfrm>
            <a:off x="1325880" y="3794760"/>
            <a:ext cx="1920240" cy="548640"/>
          </a:xfrm>
          <a:prstGeom prst="rect">
            <a:avLst/>
          </a:prstGeom>
          <a:noFill/>
        </p:spPr>
        <p:txBody>
          <a:bodyPr wrap="square" anchor="t" lIns="0" rIns="0" tIns="0" bIns="0">
            <a:spAutoFit/>
          </a:bodyPr>
          <a:lstStyle/>
          <a:p>
            <a:pPr algn="l"/>
            <a:r>
              <a:rPr sz="1100" b="1">
                <a:solidFill>
                  <a:srgbClr val="C02F2F"/>
                </a:solidFill>
                <a:latin typeface="Arial"/>
              </a:rPr>
              <a:t>Borrás una frase de</a:t>
            </a:r>
          </a:p>
          <a:p>
            <a:pPr algn="l"/>
            <a:r>
              <a:rPr sz="1100" b="1">
                <a:solidFill>
                  <a:srgbClr val="C02F2F"/>
                </a:solidFill>
                <a:latin typeface="Arial"/>
              </a:rPr>
              <a:t>Foundation → no compila.</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chemeClr val="dk1"/>
                </a:solidFill>
                <a:latin typeface="Arial"/>
                <a:ea typeface="Google Sans"/>
                <a:cs typeface="Google Sans"/>
                <a:sym typeface="Google Sans"/>
              </a:rPr>
              <a:t>Nueve invariantes</a:t>
            </a:r>
            <a:endParaRPr b="1" sz="3000">
              <a:solidFill>
                <a:schemeClr val="dk1"/>
              </a:solidFill>
              <a:latin typeface="Google Sans"/>
              <a:ea typeface="Google Sans"/>
              <a:cs typeface="Google Sans"/>
              <a:sym typeface="Google Sans"/>
            </a:endParaRP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621792" y="1600200"/>
            <a:ext cx="4023360" cy="2377440"/>
          </a:xfrm>
          <a:prstGeom prst="rect">
            <a:avLst/>
          </a:prstGeom>
          <a:noFill/>
        </p:spPr>
        <p:txBody>
          <a:bodyPr wrap="square" anchor="t" lIns="0" rIns="0" tIns="0" bIns="0">
            <a:spAutoFit/>
          </a:bodyPr>
          <a:lstStyle/>
          <a:p>
            <a:pPr algn="l">
              <a:lnSpc>
                <a:spcPct val="135000"/>
              </a:lnSpc>
            </a:pPr>
            <a:r>
              <a:rPr sz="1200" b="0">
                <a:solidFill>
                  <a:srgbClr val="FFFFFF"/>
                </a:solidFill>
                <a:latin typeface="Arial"/>
              </a:rPr>
              <a:t>Knowledge First</a:t>
            </a:r>
          </a:p>
          <a:p>
            <a:pPr algn="l">
              <a:lnSpc>
                <a:spcPct val="135000"/>
              </a:lnSpc>
            </a:pPr>
            <a:r>
              <a:rPr sz="1200" b="0">
                <a:solidFill>
                  <a:srgbClr val="FFFFFF"/>
                </a:solidFill>
                <a:latin typeface="Arial"/>
              </a:rPr>
              <a:t>Architecture before implementation</a:t>
            </a:r>
          </a:p>
          <a:p>
            <a:pPr algn="l">
              <a:lnSpc>
                <a:spcPct val="135000"/>
              </a:lnSpc>
            </a:pPr>
            <a:r>
              <a:rPr sz="1200" b="0">
                <a:solidFill>
                  <a:srgbClr val="FFFFFF"/>
                </a:solidFill>
                <a:latin typeface="Arial"/>
              </a:rPr>
              <a:t>Human signed</a:t>
            </a:r>
          </a:p>
          <a:p>
            <a:pPr algn="l">
              <a:lnSpc>
                <a:spcPct val="135000"/>
              </a:lnSpc>
            </a:pPr>
            <a:r>
              <a:rPr sz="1200" b="0">
                <a:solidFill>
                  <a:srgbClr val="FFFFFF"/>
                </a:solidFill>
                <a:latin typeface="Arial"/>
              </a:rPr>
              <a:t>One source, many views</a:t>
            </a:r>
          </a:p>
          <a:p>
            <a:pPr algn="l">
              <a:lnSpc>
                <a:spcPct val="135000"/>
              </a:lnSpc>
            </a:pPr>
            <a:r>
              <a:rPr sz="1200" b="0">
                <a:solidFill>
                  <a:srgbClr val="FFFFFF"/>
                </a:solidFill>
                <a:latin typeface="Arial"/>
              </a:rPr>
              <a:t>Adopt or adapt</a:t>
            </a:r>
          </a:p>
          <a:p>
            <a:pPr algn="l">
              <a:lnSpc>
                <a:spcPct val="135000"/>
              </a:lnSpc>
            </a:pPr>
            <a:r>
              <a:rPr sz="1200" b="0">
                <a:solidFill>
                  <a:srgbClr val="FFFFFF"/>
                </a:solidFill>
                <a:latin typeface="Arial"/>
              </a:rPr>
              <a:t>Fail closed</a:t>
            </a:r>
          </a:p>
          <a:p>
            <a:pPr algn="l">
              <a:lnSpc>
                <a:spcPct val="135000"/>
              </a:lnSpc>
            </a:pPr>
            <a:r>
              <a:rPr sz="1200" b="0">
                <a:solidFill>
                  <a:srgbClr val="FFFFFF"/>
                </a:solidFill>
                <a:latin typeface="Arial"/>
              </a:rPr>
              <a:t>Append over overwrite</a:t>
            </a:r>
          </a:p>
          <a:p>
            <a:pPr algn="l">
              <a:lnSpc>
                <a:spcPct val="135000"/>
              </a:lnSpc>
            </a:pPr>
            <a:r>
              <a:rPr sz="1200" b="0">
                <a:solidFill>
                  <a:srgbClr val="FFFFFF"/>
                </a:solidFill>
                <a:latin typeface="Arial"/>
              </a:rPr>
              <a:t>Receipts over claims</a:t>
            </a:r>
          </a:p>
          <a:p>
            <a:pPr algn="l">
              <a:lnSpc>
                <a:spcPct val="135000"/>
              </a:lnSpc>
            </a:pPr>
            <a:r>
              <a:rPr sz="1200" b="0">
                <a:solidFill>
                  <a:srgbClr val="FFFFFF"/>
                </a:solidFill>
                <a:latin typeface="Arial"/>
              </a:rPr>
              <a:t>Ports before products</a:t>
            </a:r>
          </a:p>
        </p:txBody>
      </p:sp>
      <p:sp>
        <p:nvSpPr>
          <p:cNvPr id="105" name="TextBox 104"/>
          <p:cNvSpPr txBox="1"/>
          <p:nvPr/>
        </p:nvSpPr>
        <p:spPr>
          <a:xfrm>
            <a:off x="4709160" y="1600200"/>
            <a:ext cx="3931920" cy="320040"/>
          </a:xfrm>
          <a:prstGeom prst="rect">
            <a:avLst/>
          </a:prstGeom>
          <a:noFill/>
        </p:spPr>
        <p:txBody>
          <a:bodyPr wrap="square" anchor="t" lIns="0" rIns="0" tIns="0" bIns="0">
            <a:spAutoFit/>
          </a:bodyPr>
          <a:lstStyle/>
          <a:p>
            <a:pPr algn="l"/>
            <a:r>
              <a:rPr sz="1200" b="1">
                <a:solidFill>
                  <a:srgbClr val="FFFFFF"/>
                </a:solidFill>
                <a:latin typeface="Arial"/>
              </a:rPr>
              <a:t>Receipts over claims</a:t>
            </a:r>
          </a:p>
        </p:txBody>
      </p:sp>
      <p:sp>
        <p:nvSpPr>
          <p:cNvPr id="106" name="TextBox 105"/>
          <p:cNvSpPr txBox="1"/>
          <p:nvPr/>
        </p:nvSpPr>
        <p:spPr>
          <a:xfrm>
            <a:off x="4709160" y="2011680"/>
            <a:ext cx="3931920" cy="1188720"/>
          </a:xfrm>
          <a:prstGeom prst="rect">
            <a:avLst/>
          </a:prstGeom>
          <a:noFill/>
        </p:spPr>
        <p:txBody>
          <a:bodyPr wrap="square" anchor="t" lIns="0" rIns="0" tIns="0" bIns="0">
            <a:spAutoFit/>
          </a:bodyPr>
          <a:lstStyle/>
          <a:p>
            <a:pPr algn="l"/>
            <a:r>
              <a:rPr sz="1200" b="0">
                <a:solidFill>
                  <a:srgbClr val="FFFFFF"/>
                </a:solidFill>
                <a:latin typeface="Arial"/>
              </a:rPr>
              <a:t>“el avance se reduce de evidencia ligada a bytes</a:t>
            </a:r>
          </a:p>
          <a:p>
            <a:pPr algn="l"/>
            <a:r>
              <a:rPr sz="1200" b="0">
                <a:solidFill>
                  <a:srgbClr val="FFFFFF"/>
                </a:solidFill>
                <a:latin typeface="Arial"/>
              </a:rPr>
              <a:t>y commits; una fase declarada por un chat o</a:t>
            </a:r>
          </a:p>
          <a:p>
            <a:pPr algn="l"/>
            <a:r>
              <a:rPr sz="1200" b="0">
                <a:solidFill>
                  <a:srgbClr val="FFFFFF"/>
                </a:solidFill>
                <a:latin typeface="Arial"/>
              </a:rPr>
              <a:t>executor no habilita la siguiente”</a:t>
            </a:r>
          </a:p>
        </p:txBody>
      </p:sp>
      <p:sp>
        <p:nvSpPr>
          <p:cNvPr id="107" name="TextBox 106"/>
          <p:cNvSpPr txBox="1"/>
          <p:nvPr/>
        </p:nvSpPr>
        <p:spPr>
          <a:xfrm>
            <a:off x="4709160" y="2788920"/>
            <a:ext cx="3931920" cy="274320"/>
          </a:xfrm>
          <a:prstGeom prst="rect">
            <a:avLst/>
          </a:prstGeom>
          <a:noFill/>
        </p:spPr>
        <p:txBody>
          <a:bodyPr wrap="square" anchor="t" lIns="0" rIns="0" tIns="0" bIns="0">
            <a:spAutoFit/>
          </a:bodyPr>
          <a:lstStyle/>
          <a:p>
            <a:pPr algn="l"/>
            <a:r>
              <a:rPr sz="1000" b="0">
                <a:solidFill>
                  <a:srgbClr val="FFFFFF"/>
                </a:solidFill>
                <a:latin typeface="Arial"/>
              </a:rPr>
              <a:t>— CORE_DOCTRINE.md</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27"/>
          <p:cNvSpPr txBox="1"/>
          <p:nvPr/>
        </p:nvSpPr>
        <p:spPr>
          <a:xfrm>
            <a:off x="771525" y="1554480"/>
            <a:ext cx="3577800" cy="23774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latin typeface="Arial"/>
                <a:ea typeface="Google Sans"/>
                <a:cs typeface="Google Sans"/>
                <a:sym typeface="Google Sans"/>
              </a:rPr>
              <a:t>“Una ausencia de</a:t>
            </a:r>
            <a:endParaRPr b="1" sz="3000">
              <a:solidFill>
                <a:srgbClr val="000000"/>
              </a:solidFill>
              <a:latin typeface="Google Sans"/>
              <a:ea typeface="Google Sans"/>
              <a:cs typeface="Google Sans"/>
              <a:sym typeface="Google Sans"/>
            </a:endParaRPr>
          </a:p>
          <a:p>
            <a:pPr indent="0" lvl="0" marL="0" rtl="0" algn="l">
              <a:spcBef>
                <a:spcPts val="0"/>
              </a:spcBef>
              <a:spcAft>
                <a:spcPts val="0"/>
              </a:spcAft>
              <a:buNone/>
            </a:pPr>
            <a:r>
              <a:rPr b="1" lang="en" sz="2700">
                <a:latin typeface="Arial"/>
                <a:ea typeface="Google Sans"/>
                <a:cs typeface="Google Sans"/>
                <a:sym typeface="Google Sans"/>
              </a:rPr>
              <a:t>evidencia, versión,</a:t>
            </a:r>
          </a:p>
          <a:p>
            <a:pPr indent="0" lvl="0" marL="0" rtl="0" algn="l">
              <a:spcBef>
                <a:spcPts val="0"/>
              </a:spcBef>
              <a:spcAft>
                <a:spcPts val="0"/>
              </a:spcAft>
              <a:buNone/>
            </a:pPr>
            <a:r>
              <a:rPr b="1" lang="en" sz="2700">
                <a:latin typeface="Arial"/>
                <a:ea typeface="Google Sans"/>
                <a:cs typeface="Google Sans"/>
                <a:sym typeface="Google Sans"/>
              </a:rPr>
              <a:t>owner o contrato</a:t>
            </a:r>
          </a:p>
          <a:p>
            <a:pPr indent="0" lvl="0" marL="0" rtl="0" algn="l">
              <a:spcBef>
                <a:spcPts val="0"/>
              </a:spcBef>
              <a:spcAft>
                <a:spcPts val="0"/>
              </a:spcAft>
              <a:buNone/>
            </a:pPr>
            <a:r>
              <a:rPr b="1" lang="en" sz="2700">
                <a:latin typeface="Arial"/>
                <a:ea typeface="Google Sans"/>
                <a:cs typeface="Google Sans"/>
                <a:sym typeface="Google Sans"/>
              </a:rPr>
              <a:t>no se interpreta</a:t>
            </a:r>
          </a:p>
          <a:p>
            <a:pPr indent="0" lvl="0" marL="0" rtl="0" algn="l">
              <a:spcBef>
                <a:spcPts val="0"/>
              </a:spcBef>
              <a:spcAft>
                <a:spcPts val="0"/>
              </a:spcAft>
              <a:buNone/>
            </a:pPr>
            <a:r>
              <a:rPr b="1" lang="en" sz="2700">
                <a:latin typeface="Arial"/>
                <a:ea typeface="Google Sans"/>
                <a:cs typeface="Google Sans"/>
                <a:sym typeface="Google Sans"/>
              </a:rPr>
              <a:t>como aprobación”</a:t>
            </a:r>
          </a:p>
        </p:txBody>
      </p:sp>
      <p:sp>
        <p:nvSpPr>
          <p:cNvPr id="109" name="Google Shape;109;p27"/>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FFFFFF"/>
                </a:solidFill>
                <a:latin typeface="Google Sans"/>
                <a:ea typeface="Google Sans"/>
                <a:cs typeface="Google Sans"/>
                <a:sym typeface="Google Sans"/>
              </a:rPr>
              <a:t>KCD_Lima_Perú_2026</a:t>
            </a:r>
            <a:endParaRPr b="1" sz="1500">
              <a:solidFill>
                <a:srgbClr val="FFFFFF"/>
              </a:solidFill>
              <a:latin typeface="Google Sans"/>
              <a:ea typeface="Google Sans"/>
              <a:cs typeface="Google Sans"/>
              <a:sym typeface="Google Sans"/>
            </a:endParaRPr>
          </a:p>
        </p:txBody>
      </p:sp>
      <p:sp>
        <p:nvSpPr>
          <p:cNvPr id="110" name="TextBox 109"/>
          <p:cNvSpPr txBox="1"/>
          <p:nvPr/>
        </p:nvSpPr>
        <p:spPr>
          <a:xfrm>
            <a:off x="640080" y="640080"/>
            <a:ext cx="1645920" cy="1554480"/>
          </a:xfrm>
          <a:prstGeom prst="rect">
            <a:avLst/>
          </a:prstGeom>
          <a:noFill/>
        </p:spPr>
        <p:txBody>
          <a:bodyPr wrap="square" anchor="t" lIns="0" rIns="0" tIns="0" bIns="0">
            <a:spAutoFit/>
          </a:bodyPr>
          <a:lstStyle/>
          <a:p>
            <a:pPr algn="l"/>
            <a:r>
              <a:rPr sz="13000" b="1">
                <a:solidFill>
                  <a:srgbClr val="004CA8"/>
                </a:solidFill>
                <a:latin typeface="Arial"/>
              </a:rPr>
              <a:t>“</a:t>
            </a:r>
          </a:p>
        </p:txBody>
      </p:sp>
      <p:sp>
        <p:nvSpPr>
          <p:cNvPr id="111" name="TextBox 110"/>
          <p:cNvSpPr txBox="1"/>
          <p:nvPr/>
        </p:nvSpPr>
        <p:spPr>
          <a:xfrm>
            <a:off x="731520" y="4023360"/>
            <a:ext cx="3657600" cy="365760"/>
          </a:xfrm>
          <a:prstGeom prst="rect">
            <a:avLst/>
          </a:prstGeom>
          <a:noFill/>
        </p:spPr>
        <p:txBody>
          <a:bodyPr wrap="square" anchor="t" lIns="0" rIns="0" tIns="0" bIns="0">
            <a:spAutoFit/>
          </a:bodyPr>
          <a:lstStyle/>
          <a:p>
            <a:pPr algn="l"/>
            <a:r>
              <a:rPr sz="1100" b="0">
                <a:solidFill>
                  <a:srgbClr val="FFFFFF"/>
                </a:solidFill>
                <a:latin typeface="Arial"/>
              </a:rPr>
              <a:t>Fail closed · CORE_DOCTRINE.md</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Evidencia y aprobación son dos archivos</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Uno lo llena la máquina. El otro solo puede llenarlo una persona.</a:t>
            </a:r>
          </a:p>
        </p:txBody>
      </p:sp>
      <p:sp>
        <p:nvSpPr>
          <p:cNvPr id="93" name="Rounded Rectangle 92"/>
          <p:cNvSpPr/>
          <p:nvPr/>
        </p:nvSpPr>
        <p:spPr>
          <a:xfrm>
            <a:off x="640080" y="1691640"/>
            <a:ext cx="3383280" cy="20574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4" name="TextBox 93"/>
          <p:cNvSpPr txBox="1"/>
          <p:nvPr/>
        </p:nvSpPr>
        <p:spPr>
          <a:xfrm>
            <a:off x="822960" y="1810512"/>
            <a:ext cx="3017520" cy="274320"/>
          </a:xfrm>
          <a:prstGeom prst="rect">
            <a:avLst/>
          </a:prstGeom>
          <a:noFill/>
        </p:spPr>
        <p:txBody>
          <a:bodyPr wrap="square" anchor="t" lIns="0" rIns="0" tIns="0" bIns="0">
            <a:spAutoFit/>
          </a:bodyPr>
          <a:lstStyle/>
          <a:p>
            <a:pPr algn="l"/>
            <a:r>
              <a:rPr sz="1200" b="1">
                <a:solidFill>
                  <a:srgbClr val="262626"/>
                </a:solidFill>
                <a:latin typeface="Arial"/>
              </a:rPr>
              <a:t>EvidenceReceipt v2</a:t>
            </a:r>
          </a:p>
        </p:txBody>
      </p:sp>
      <p:sp>
        <p:nvSpPr>
          <p:cNvPr id="95" name="TextBox 94"/>
          <p:cNvSpPr txBox="1"/>
          <p:nvPr/>
        </p:nvSpPr>
        <p:spPr>
          <a:xfrm>
            <a:off x="822960" y="2148840"/>
            <a:ext cx="3017520" cy="1143000"/>
          </a:xfrm>
          <a:prstGeom prst="rect">
            <a:avLst/>
          </a:prstGeom>
          <a:noFill/>
        </p:spPr>
        <p:txBody>
          <a:bodyPr wrap="square" anchor="t" lIns="0" rIns="0" tIns="0" bIns="0">
            <a:spAutoFit/>
          </a:bodyPr>
          <a:lstStyle/>
          <a:p>
            <a:pPr algn="l"/>
            <a:r>
              <a:rPr sz="1000" b="0">
                <a:solidFill>
                  <a:srgbClr val="262626"/>
                </a:solidFill>
                <a:latin typeface="Courier New"/>
              </a:rPr>
              <a:t>EVR-&lt;12 hex&gt;</a:t>
            </a:r>
          </a:p>
          <a:p>
            <a:pPr algn="l"/>
            <a:r>
              <a:rPr sz="1000" b="0">
                <a:solidFill>
                  <a:srgbClr val="262626"/>
                </a:solidFill>
                <a:latin typeface="Courier New"/>
              </a:rPr>
              <a:t>actor.type: human | service | agent</a:t>
            </a:r>
          </a:p>
          <a:p>
            <a:pPr algn="l"/>
            <a:r>
              <a:rPr sz="1000" b="0">
                <a:solidFill>
                  <a:srgbClr val="262626"/>
                </a:solidFill>
                <a:latin typeface="Courier New"/>
              </a:rPr>
              <a:t>base_commit → head_commit</a:t>
            </a:r>
          </a:p>
          <a:p>
            <a:pPr algn="l"/>
            <a:r>
              <a:rPr sz="1000" b="0">
                <a:solidFill>
                  <a:srgbClr val="262626"/>
                </a:solidFill>
                <a:latin typeface="Courier New"/>
              </a:rPr>
              <a:t>evidence[]: path + sha256 + size</a:t>
            </a:r>
          </a:p>
          <a:p>
            <a:pPr algn="l"/>
            <a:r>
              <a:rPr sz="1000" b="0">
                <a:solidFill>
                  <a:srgbClr val="262626"/>
                </a:solidFill>
                <a:latin typeface="Courier New"/>
              </a:rPr>
              <a:t>verdict: passed | failed | blocked</a:t>
            </a:r>
          </a:p>
        </p:txBody>
      </p:sp>
      <p:sp>
        <p:nvSpPr>
          <p:cNvPr id="96" name="TextBox 95"/>
          <p:cNvSpPr txBox="1"/>
          <p:nvPr/>
        </p:nvSpPr>
        <p:spPr>
          <a:xfrm>
            <a:off x="822960" y="3438144"/>
            <a:ext cx="3017520" cy="274320"/>
          </a:xfrm>
          <a:prstGeom prst="rect">
            <a:avLst/>
          </a:prstGeom>
          <a:noFill/>
        </p:spPr>
        <p:txBody>
          <a:bodyPr wrap="square" anchor="t" lIns="0" rIns="0" tIns="0" bIns="0">
            <a:spAutoFit/>
          </a:bodyPr>
          <a:lstStyle/>
          <a:p>
            <a:pPr algn="l"/>
            <a:r>
              <a:rPr sz="1100" b="0">
                <a:solidFill>
                  <a:srgbClr val="262626"/>
                </a:solidFill>
                <a:latin typeface="Arial"/>
              </a:rPr>
              <a:t>La máquina puede emitirlo.</a:t>
            </a:r>
          </a:p>
        </p:txBody>
      </p:sp>
      <p:sp>
        <p:nvSpPr>
          <p:cNvPr id="97" name="Rounded Rectangle 96"/>
          <p:cNvSpPr/>
          <p:nvPr/>
        </p:nvSpPr>
        <p:spPr>
          <a:xfrm>
            <a:off x="5120640" y="1691640"/>
            <a:ext cx="3383280" cy="2057400"/>
          </a:xfrm>
          <a:prstGeom prst="roundRect">
            <a:avLst>
              <a:gd name="adj" fmla="val 8000"/>
            </a:avLst>
          </a:prstGeom>
          <a:solidFill>
            <a:srgbClr val="FFFFFF"/>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8" name="TextBox 97"/>
          <p:cNvSpPr txBox="1"/>
          <p:nvPr/>
        </p:nvSpPr>
        <p:spPr>
          <a:xfrm>
            <a:off x="5303520" y="1810512"/>
            <a:ext cx="3017520" cy="274320"/>
          </a:xfrm>
          <a:prstGeom prst="rect">
            <a:avLst/>
          </a:prstGeom>
          <a:noFill/>
        </p:spPr>
        <p:txBody>
          <a:bodyPr wrap="square" anchor="t" lIns="0" rIns="0" tIns="0" bIns="0">
            <a:spAutoFit/>
          </a:bodyPr>
          <a:lstStyle/>
          <a:p>
            <a:pPr algn="l"/>
            <a:r>
              <a:rPr sz="1200" b="1">
                <a:solidFill>
                  <a:srgbClr val="262626"/>
                </a:solidFill>
                <a:latin typeface="Arial"/>
              </a:rPr>
              <a:t>ApprovalReceipt v1</a:t>
            </a:r>
          </a:p>
        </p:txBody>
      </p:sp>
      <p:sp>
        <p:nvSpPr>
          <p:cNvPr id="99" name="TextBox 98"/>
          <p:cNvSpPr txBox="1"/>
          <p:nvPr/>
        </p:nvSpPr>
        <p:spPr>
          <a:xfrm>
            <a:off x="5303520" y="2148840"/>
            <a:ext cx="3017520" cy="1143000"/>
          </a:xfrm>
          <a:prstGeom prst="rect">
            <a:avLst/>
          </a:prstGeom>
          <a:noFill/>
        </p:spPr>
        <p:txBody>
          <a:bodyPr wrap="square" anchor="t" lIns="0" rIns="0" tIns="0" bIns="0">
            <a:spAutoFit/>
          </a:bodyPr>
          <a:lstStyle/>
          <a:p>
            <a:pPr algn="l"/>
            <a:r>
              <a:rPr sz="1000" b="0">
                <a:solidFill>
                  <a:srgbClr val="262626"/>
                </a:solidFill>
                <a:latin typeface="Courier New"/>
              </a:rPr>
              <a:t>APR-&lt;12 hex&gt;</a:t>
            </a:r>
          </a:p>
          <a:p>
            <a:pPr algn="l"/>
            <a:r>
              <a:rPr sz="1000" b="0">
                <a:solidFill>
                  <a:srgbClr val="262626"/>
                </a:solidFill>
                <a:latin typeface="Courier New"/>
              </a:rPr>
              <a:t>actor.type: {"const": "human"}</a:t>
            </a:r>
          </a:p>
          <a:p>
            <a:pPr algn="l"/>
            <a:r>
              <a:rPr sz="1000" b="0">
                <a:solidFill>
                  <a:srgbClr val="262626"/>
                </a:solidFill>
                <a:latin typeface="Courier New"/>
              </a:rPr>
              <a:t>authority_role: obligatorio</a:t>
            </a:r>
          </a:p>
          <a:p>
            <a:pPr algn="l"/>
            <a:r>
              <a:rPr sz="1000" b="0">
                <a:solidFill>
                  <a:srgbClr val="262626"/>
                </a:solidFill>
                <a:latin typeface="Courier New"/>
              </a:rPr>
              <a:t>evidence_receipt_digest: sha256</a:t>
            </a:r>
          </a:p>
          <a:p>
            <a:pPr algn="l"/>
            <a:r>
              <a:rPr sz="1000" b="0">
                <a:solidFill>
                  <a:srgbClr val="262626"/>
                </a:solidFill>
                <a:latin typeface="Courier New"/>
              </a:rPr>
              <a:t>verdict: accepted | rejected</a:t>
            </a:r>
          </a:p>
        </p:txBody>
      </p:sp>
      <p:sp>
        <p:nvSpPr>
          <p:cNvPr id="100" name="TextBox 99"/>
          <p:cNvSpPr txBox="1"/>
          <p:nvPr/>
        </p:nvSpPr>
        <p:spPr>
          <a:xfrm>
            <a:off x="5303520" y="3438144"/>
            <a:ext cx="3017520" cy="274320"/>
          </a:xfrm>
          <a:prstGeom prst="rect">
            <a:avLst/>
          </a:prstGeom>
          <a:noFill/>
        </p:spPr>
        <p:txBody>
          <a:bodyPr wrap="square" anchor="t" lIns="0" rIns="0" tIns="0" bIns="0">
            <a:spAutoFit/>
          </a:bodyPr>
          <a:lstStyle/>
          <a:p>
            <a:pPr algn="l"/>
            <a:r>
              <a:rPr sz="1100" b="0">
                <a:solidFill>
                  <a:srgbClr val="262626"/>
                </a:solidFill>
                <a:latin typeface="Arial"/>
              </a:rPr>
              <a:t>Un agente NO valida contra este schema.</a:t>
            </a:r>
          </a:p>
        </p:txBody>
      </p:sp>
      <p:cxnSp>
        <p:nvCxnSpPr>
          <p:cNvPr id="101" name="Connector 100"/>
          <p:cNvCxnSpPr/>
          <p:nvPr/>
        </p:nvCxnSpPr>
        <p:spPr>
          <a:xfrm flipH="1">
            <a:off x="4023360" y="2788920"/>
            <a:ext cx="1097280" cy="0"/>
          </a:xfrm>
          <a:prstGeom prst="line">
            <a:avLst/>
          </a:prstGeom>
          <a:ln w="22225">
            <a:solidFill>
              <a:srgbClr val="1E7A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023360" y="2926080"/>
            <a:ext cx="1097280" cy="274320"/>
          </a:xfrm>
          <a:prstGeom prst="rect">
            <a:avLst/>
          </a:prstGeom>
          <a:noFill/>
        </p:spPr>
        <p:txBody>
          <a:bodyPr wrap="square" anchor="t" lIns="0" rIns="0" tIns="0" bIns="0">
            <a:spAutoFit/>
          </a:bodyPr>
          <a:lstStyle/>
          <a:p>
            <a:pPr algn="ctr"/>
            <a:r>
              <a:rPr sz="900" b="0">
                <a:solidFill>
                  <a:srgbClr val="5A5A5A"/>
                </a:solidFill>
                <a:latin typeface="Arial"/>
              </a:rPr>
              <a:t>apunta por digest</a:t>
            </a:r>
          </a:p>
        </p:txBody>
      </p:sp>
      <p:sp>
        <p:nvSpPr>
          <p:cNvPr id="103" name="TextBox 102"/>
          <p:cNvSpPr txBox="1"/>
          <p:nvPr/>
        </p:nvSpPr>
        <p:spPr>
          <a:xfrm>
            <a:off x="1371600" y="4023360"/>
            <a:ext cx="6400800" cy="502920"/>
          </a:xfrm>
          <a:prstGeom prst="rect">
            <a:avLst/>
          </a:prstGeom>
          <a:noFill/>
        </p:spPr>
        <p:txBody>
          <a:bodyPr wrap="square" anchor="t" lIns="0" rIns="0" tIns="0" bIns="0">
            <a:spAutoFit/>
          </a:bodyPr>
          <a:lstStyle/>
          <a:p>
            <a:pPr algn="l"/>
            <a:r>
              <a:rPr sz="1100" b="1">
                <a:solidFill>
                  <a:srgbClr val="262626"/>
                </a:solidFill>
                <a:latin typeface="Arial"/>
              </a:rPr>
              <a:t>ADR-0005 rechaza explícitamente “tratar CI o agentes como aprobadores: contradice autoridad humana”</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chemeClr val="dk1"/>
                </a:solidFill>
                <a:latin typeface="Arial"/>
                <a:ea typeface="Google Sans"/>
                <a:cs typeface="Google Sans"/>
                <a:sym typeface="Google Sans"/>
              </a:rPr>
              <a:t>El claim boundary</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805675"/>
            <a:ext cx="3931920" cy="100584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Cada artefacto declara qué NO demuestra</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No es un comentario: es un campo obligatorio del schema</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En EvidenceReceipt está congelado como constante</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Rectangle 103"/>
          <p:cNvSpPr/>
          <p:nvPr/>
        </p:nvSpPr>
        <p:spPr>
          <a:xfrm>
            <a:off x="4709160" y="1737360"/>
            <a:ext cx="3977639" cy="1537335"/>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5" name="Rectangle 104"/>
          <p:cNvSpPr/>
          <p:nvPr/>
        </p:nvSpPr>
        <p:spPr>
          <a:xfrm>
            <a:off x="4709160" y="1737360"/>
            <a:ext cx="3977639"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6" name="TextBox 105"/>
          <p:cNvSpPr txBox="1"/>
          <p:nvPr/>
        </p:nvSpPr>
        <p:spPr>
          <a:xfrm>
            <a:off x="4818888" y="1760219"/>
            <a:ext cx="3758183" cy="182880"/>
          </a:xfrm>
          <a:prstGeom prst="rect">
            <a:avLst/>
          </a:prstGeom>
          <a:noFill/>
        </p:spPr>
        <p:txBody>
          <a:bodyPr wrap="none" lIns="0" rIns="0" tIns="0" bIns="0">
            <a:spAutoFit/>
          </a:bodyPr>
          <a:lstStyle/>
          <a:p>
            <a:r>
              <a:rPr sz="900">
                <a:solidFill>
                  <a:srgbClr val="A0A0A8"/>
                </a:solidFill>
                <a:latin typeface="Courier New"/>
              </a:rPr>
              <a:t>EvidenceReceipt.schema.json</a:t>
            </a:r>
          </a:p>
        </p:txBody>
      </p:sp>
      <p:sp>
        <p:nvSpPr>
          <p:cNvPr id="107" name="TextBox 106"/>
          <p:cNvSpPr txBox="1"/>
          <p:nvPr/>
        </p:nvSpPr>
        <p:spPr>
          <a:xfrm>
            <a:off x="4818888" y="2075687"/>
            <a:ext cx="3758183" cy="1080135"/>
          </a:xfrm>
          <a:prstGeom prst="rect">
            <a:avLst/>
          </a:prstGeom>
          <a:noFill/>
        </p:spPr>
        <p:txBody>
          <a:bodyPr wrap="none" lIns="0" rIns="0" tIns="0" bIns="0">
            <a:spAutoFit/>
          </a:bodyPr>
          <a:lstStyle/>
          <a:p>
            <a:pPr>
              <a:lnSpc>
                <a:spcPts val="1215"/>
              </a:lnSpc>
            </a:pPr>
            <a:r>
              <a:rPr sz="900">
                <a:solidFill>
                  <a:srgbClr val="D8D8DC"/>
                </a:solidFill>
                <a:latin typeface="Courier New"/>
              </a:rPr>
              <a:t>"integrity": {</a:t>
            </a:r>
          </a:p>
          <a:p>
            <a:pPr>
              <a:lnSpc>
                <a:spcPts val="1215"/>
              </a:lnSpc>
            </a:pPr>
            <a:r>
              <a:rPr sz="900">
                <a:solidFill>
                  <a:srgbClr val="D8D8DC"/>
                </a:solidFill>
                <a:latin typeface="Courier New"/>
              </a:rPr>
              <a:t>  "claim": {</a:t>
            </a:r>
          </a:p>
          <a:p>
            <a:pPr>
              <a:lnSpc>
                <a:spcPts val="1215"/>
              </a:lnSpc>
            </a:pPr>
            <a:r>
              <a:rPr sz="900">
                <a:solidFill>
                  <a:srgbClr val="D8D8DC"/>
                </a:solidFill>
                <a:latin typeface="Courier New"/>
              </a:rPr>
              <a:t>    "const": "local-integrity-only;</a:t>
            </a:r>
          </a:p>
          <a:p>
            <a:pPr>
              <a:lnSpc>
                <a:spcPts val="1215"/>
              </a:lnSpc>
            </a:pPr>
            <a:r>
              <a:rPr sz="900">
                <a:solidFill>
                  <a:srgbClr val="D8D8DC"/>
                </a:solidFill>
                <a:latin typeface="Courier New"/>
              </a:rPr>
              <a:t>             not identity or</a:t>
            </a:r>
          </a:p>
          <a:p>
            <a:pPr>
              <a:lnSpc>
                <a:spcPts val="1215"/>
              </a:lnSpc>
            </a:pPr>
            <a:r>
              <a:rPr sz="900">
                <a:solidFill>
                  <a:srgbClr val="D8D8DC"/>
                </a:solidFill>
                <a:latin typeface="Courier New"/>
              </a:rPr>
              <a:t>             non-repudiation"</a:t>
            </a:r>
          </a:p>
          <a:p>
            <a:pPr>
              <a:lnSpc>
                <a:spcPts val="1215"/>
              </a:lnSpc>
            </a:pPr>
            <a:r>
              <a:rPr sz="900">
                <a:solidFill>
                  <a:srgbClr val="D8D8DC"/>
                </a:solidFill>
                <a:latin typeface="Courier New"/>
              </a:rPr>
              <a:t>  }</a:t>
            </a:r>
          </a:p>
          <a:p>
            <a:pPr>
              <a:lnSpc>
                <a:spcPts val="1215"/>
              </a:lnSpc>
            </a:pPr>
            <a:r>
              <a:rPr sz="900">
                <a:solidFill>
                  <a:srgbClr val="D8D8DC"/>
                </a:solidFill>
                <a:latin typeface="Courier New"/>
              </a:rPr>
              <a:t>}</a:t>
            </a:r>
          </a:p>
        </p:txBody>
      </p:sp>
      <p:sp>
        <p:nvSpPr>
          <p:cNvPr id="108" name="TextBox 107"/>
          <p:cNvSpPr txBox="1"/>
          <p:nvPr/>
        </p:nvSpPr>
        <p:spPr>
          <a:xfrm>
            <a:off x="4709160" y="3566160"/>
            <a:ext cx="3977639" cy="822960"/>
          </a:xfrm>
          <a:prstGeom prst="rect">
            <a:avLst/>
          </a:prstGeom>
          <a:noFill/>
        </p:spPr>
        <p:txBody>
          <a:bodyPr wrap="square" anchor="t" lIns="0" rIns="0" tIns="0" bIns="0">
            <a:spAutoFit/>
          </a:bodyPr>
          <a:lstStyle/>
          <a:p>
            <a:pPr algn="l"/>
            <a:r>
              <a:rPr sz="1100" b="0">
                <a:solidFill>
                  <a:srgbClr val="FFFFFF"/>
                </a:solidFill>
                <a:latin typeface="Arial"/>
              </a:rPr>
              <a:t>Es imposible emitir un recibo que se sobrevenda:</a:t>
            </a:r>
          </a:p>
          <a:p>
            <a:pPr algn="l"/>
            <a:r>
              <a:rPr sz="1100" b="0">
                <a:solidFill>
                  <a:srgbClr val="FFFFFF"/>
                </a:solidFill>
                <a:latin typeface="Arial"/>
              </a:rPr>
              <a:t>la limitación está en el contrato, no en la buena fe.</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5"/>
          <p:cNvSpPr txBox="1"/>
          <p:nvPr/>
        </p:nvSpPr>
        <p:spPr>
          <a:xfrm>
            <a:off x="4304875" y="1330722"/>
            <a:ext cx="3566160" cy="1591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400">
                <a:solidFill>
                  <a:schemeClr val="dk1"/>
                </a:solidFill>
                <a:latin typeface="Arial"/>
                <a:ea typeface="Google Sans"/>
                <a:cs typeface="Google Sans"/>
                <a:sym typeface="Google Sans"/>
              </a:rPr>
              <a:t>El ciclo</a:t>
            </a:r>
            <a:endParaRPr b="1" sz="4000">
              <a:solidFill>
                <a:schemeClr val="dk1"/>
              </a:solidFill>
              <a:latin typeface="Google Sans"/>
              <a:ea typeface="Google Sans"/>
              <a:cs typeface="Google Sans"/>
              <a:sym typeface="Google Sans"/>
            </a:endParaRPr>
          </a:p>
          <a:p>
            <a:pPr indent="0" lvl="0" marL="0" rtl="0" algn="l">
              <a:lnSpc>
                <a:spcPct val="90000"/>
              </a:lnSpc>
              <a:spcBef>
                <a:spcPts val="0"/>
              </a:spcBef>
              <a:spcAft>
                <a:spcPts val="1000"/>
              </a:spcAft>
              <a:buNone/>
            </a:pPr>
            <a:r>
              <a:rPr b="1" lang="en" sz="3400">
                <a:solidFill>
                  <a:schemeClr val="dk1"/>
                </a:solidFill>
                <a:latin typeface="Arial"/>
                <a:ea typeface="Google Sans"/>
                <a:cs typeface="Google Sans"/>
                <a:sym typeface="Google Sans"/>
              </a:rPr>
              <a:t>SDD</a:t>
            </a:r>
          </a:p>
        </p:txBody>
      </p:sp>
      <p:sp>
        <p:nvSpPr>
          <p:cNvPr id="96" name="Google Shape;96;p25"/>
          <p:cNvSpPr txBox="1"/>
          <p:nvPr/>
        </p:nvSpPr>
        <p:spPr>
          <a:xfrm>
            <a:off x="221550" y="177100"/>
            <a:ext cx="4053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FFFFFF"/>
                </a:solidFill>
                <a:latin typeface="Google Sans"/>
                <a:ea typeface="Google Sans"/>
                <a:cs typeface="Google Sans"/>
                <a:sym typeface="Google Sans"/>
              </a:rPr>
              <a:t>KCD_Lima_Perú_2026</a:t>
            </a:r>
            <a:endParaRPr b="1" sz="1200">
              <a:solidFill>
                <a:srgbClr val="FFFFFF"/>
              </a:solidFill>
              <a:latin typeface="Google Sans"/>
              <a:ea typeface="Google Sans"/>
              <a:cs typeface="Google Sans"/>
              <a:sym typeface="Google Sans"/>
            </a:endParaRPr>
          </a:p>
        </p:txBody>
      </p:sp>
      <p:sp>
        <p:nvSpPr>
          <p:cNvPr id="97" name="TextBox 96"/>
          <p:cNvSpPr txBox="1"/>
          <p:nvPr/>
        </p:nvSpPr>
        <p:spPr>
          <a:xfrm>
            <a:off x="822960" y="1737360"/>
            <a:ext cx="2011680" cy="1371600"/>
          </a:xfrm>
          <a:prstGeom prst="rect">
            <a:avLst/>
          </a:prstGeom>
          <a:noFill/>
        </p:spPr>
        <p:txBody>
          <a:bodyPr wrap="square" anchor="t" lIns="0" rIns="0" tIns="0" bIns="0">
            <a:spAutoFit/>
          </a:bodyPr>
          <a:lstStyle/>
          <a:p>
            <a:pPr algn="l"/>
            <a:r>
              <a:rPr sz="9000" b="1">
                <a:solidFill>
                  <a:srgbClr val="FFFFFF"/>
                </a:solidFill>
                <a:latin typeface="Arial"/>
              </a:rPr>
              <a:t>02</a:t>
            </a:r>
          </a:p>
        </p:txBody>
      </p:sp>
      <p:sp>
        <p:nvSpPr>
          <p:cNvPr id="98" name="TextBox 97"/>
          <p:cNvSpPr txBox="1"/>
          <p:nvPr/>
        </p:nvSpPr>
        <p:spPr>
          <a:xfrm>
            <a:off x="4304875" y="3031950"/>
            <a:ext cx="3566160" cy="365760"/>
          </a:xfrm>
          <a:prstGeom prst="rect">
            <a:avLst/>
          </a:prstGeom>
          <a:noFill/>
        </p:spPr>
        <p:txBody>
          <a:bodyPr wrap="square" anchor="t" lIns="0" rIns="0" tIns="0" bIns="0">
            <a:spAutoFit/>
          </a:bodyPr>
          <a:lstStyle/>
          <a:p>
            <a:pPr algn="l"/>
            <a:r>
              <a:rPr sz="1200" b="0">
                <a:solidFill>
                  <a:srgbClr val="5A5A5A"/>
                </a:solidFill>
                <a:latin typeface="Arial"/>
              </a:rPr>
              <a:t>De la spec al gate, en ocho fases</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El ciclo: 8 fases</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El checklist va cuarto, no al final. La spec es el punto de partida de todo.</a:t>
            </a:r>
          </a:p>
        </p:txBody>
      </p:sp>
      <p:sp>
        <p:nvSpPr>
          <p:cNvPr id="93" name="Rounded Rectangle 92"/>
          <p:cNvSpPr/>
          <p:nvPr/>
        </p:nvSpPr>
        <p:spPr>
          <a:xfrm>
            <a:off x="457200" y="1737360"/>
            <a:ext cx="9144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1</a:t>
            </a:r>
          </a:p>
          <a:p>
            <a:pPr algn="ctr"/>
            <a:r>
              <a:rPr sz="900" b="0">
                <a:solidFill>
                  <a:srgbClr val="262626"/>
                </a:solidFill>
                <a:latin typeface="Arial"/>
              </a:rPr>
              <a:t>constitution</a:t>
            </a:r>
          </a:p>
        </p:txBody>
      </p:sp>
      <p:cxnSp>
        <p:nvCxnSpPr>
          <p:cNvPr id="94" name="Connector 93"/>
          <p:cNvCxnSpPr/>
          <p:nvPr/>
        </p:nvCxnSpPr>
        <p:spPr>
          <a:xfrm>
            <a:off x="1371600" y="2075688"/>
            <a:ext cx="118872"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1490472" y="1737360"/>
            <a:ext cx="914400" cy="685800"/>
          </a:xfrm>
          <a:prstGeom prst="roundRect">
            <a:avLst>
              <a:gd name="adj" fmla="val 8000"/>
            </a:avLst>
          </a:prstGeom>
          <a:solidFill>
            <a:srgbClr val="0F8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Arial"/>
              </a:rPr>
              <a:t>2</a:t>
            </a:r>
          </a:p>
          <a:p>
            <a:pPr algn="ctr"/>
            <a:r>
              <a:rPr sz="900" b="0">
                <a:solidFill>
                  <a:srgbClr val="FFFFFF"/>
                </a:solidFill>
                <a:latin typeface="Arial"/>
              </a:rPr>
              <a:t>specify</a:t>
            </a:r>
          </a:p>
        </p:txBody>
      </p:sp>
      <p:cxnSp>
        <p:nvCxnSpPr>
          <p:cNvPr id="96" name="Connector 95"/>
          <p:cNvCxnSpPr/>
          <p:nvPr/>
        </p:nvCxnSpPr>
        <p:spPr>
          <a:xfrm>
            <a:off x="2404872" y="2075688"/>
            <a:ext cx="118872"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Rounded Rectangle 96"/>
          <p:cNvSpPr/>
          <p:nvPr/>
        </p:nvSpPr>
        <p:spPr>
          <a:xfrm>
            <a:off x="2523744" y="1737360"/>
            <a:ext cx="9144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3</a:t>
            </a:r>
          </a:p>
          <a:p>
            <a:pPr algn="ctr"/>
            <a:r>
              <a:rPr sz="900" b="0">
                <a:solidFill>
                  <a:srgbClr val="262626"/>
                </a:solidFill>
                <a:latin typeface="Arial"/>
              </a:rPr>
              <a:t>clarify</a:t>
            </a:r>
          </a:p>
        </p:txBody>
      </p:sp>
      <p:cxnSp>
        <p:nvCxnSpPr>
          <p:cNvPr id="98" name="Connector 97"/>
          <p:cNvCxnSpPr/>
          <p:nvPr/>
        </p:nvCxnSpPr>
        <p:spPr>
          <a:xfrm>
            <a:off x="3438144" y="2075688"/>
            <a:ext cx="118871"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Rounded Rectangle 98"/>
          <p:cNvSpPr/>
          <p:nvPr/>
        </p:nvSpPr>
        <p:spPr>
          <a:xfrm>
            <a:off x="3557015" y="1737360"/>
            <a:ext cx="9144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4</a:t>
            </a:r>
          </a:p>
          <a:p>
            <a:pPr algn="ctr"/>
            <a:r>
              <a:rPr sz="900" b="0">
                <a:solidFill>
                  <a:srgbClr val="262626"/>
                </a:solidFill>
                <a:latin typeface="Arial"/>
              </a:rPr>
              <a:t>checklist</a:t>
            </a:r>
          </a:p>
        </p:txBody>
      </p:sp>
      <p:cxnSp>
        <p:nvCxnSpPr>
          <p:cNvPr id="100" name="Connector 99"/>
          <p:cNvCxnSpPr/>
          <p:nvPr/>
        </p:nvCxnSpPr>
        <p:spPr>
          <a:xfrm>
            <a:off x="4471416" y="2075688"/>
            <a:ext cx="118872"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4590288" y="1737360"/>
            <a:ext cx="9144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5</a:t>
            </a:r>
          </a:p>
          <a:p>
            <a:pPr algn="ctr"/>
            <a:r>
              <a:rPr sz="900" b="0">
                <a:solidFill>
                  <a:srgbClr val="262626"/>
                </a:solidFill>
                <a:latin typeface="Arial"/>
              </a:rPr>
              <a:t>plan</a:t>
            </a:r>
          </a:p>
        </p:txBody>
      </p:sp>
      <p:cxnSp>
        <p:nvCxnSpPr>
          <p:cNvPr id="102" name="Connector 101"/>
          <p:cNvCxnSpPr/>
          <p:nvPr/>
        </p:nvCxnSpPr>
        <p:spPr>
          <a:xfrm>
            <a:off x="5504688" y="2075688"/>
            <a:ext cx="118871"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Rounded Rectangle 102"/>
          <p:cNvSpPr/>
          <p:nvPr/>
        </p:nvSpPr>
        <p:spPr>
          <a:xfrm>
            <a:off x="5623559" y="1737360"/>
            <a:ext cx="9144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6</a:t>
            </a:r>
          </a:p>
          <a:p>
            <a:pPr algn="ctr"/>
            <a:r>
              <a:rPr sz="900" b="0">
                <a:solidFill>
                  <a:srgbClr val="262626"/>
                </a:solidFill>
                <a:latin typeface="Arial"/>
              </a:rPr>
              <a:t>tasks</a:t>
            </a:r>
          </a:p>
        </p:txBody>
      </p:sp>
      <p:cxnSp>
        <p:nvCxnSpPr>
          <p:cNvPr id="104" name="Connector 103"/>
          <p:cNvCxnSpPr/>
          <p:nvPr/>
        </p:nvCxnSpPr>
        <p:spPr>
          <a:xfrm>
            <a:off x="6537959" y="2075688"/>
            <a:ext cx="118872"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6656831" y="1737360"/>
            <a:ext cx="9144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7</a:t>
            </a:r>
          </a:p>
          <a:p>
            <a:pPr algn="ctr"/>
            <a:r>
              <a:rPr sz="900" b="0">
                <a:solidFill>
                  <a:srgbClr val="262626"/>
                </a:solidFill>
                <a:latin typeface="Arial"/>
              </a:rPr>
              <a:t>analyze</a:t>
            </a:r>
          </a:p>
        </p:txBody>
      </p:sp>
      <p:cxnSp>
        <p:nvCxnSpPr>
          <p:cNvPr id="106" name="Connector 105"/>
          <p:cNvCxnSpPr/>
          <p:nvPr/>
        </p:nvCxnSpPr>
        <p:spPr>
          <a:xfrm>
            <a:off x="7571231" y="2075688"/>
            <a:ext cx="118873"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7690104" y="1737360"/>
            <a:ext cx="9144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8</a:t>
            </a:r>
          </a:p>
          <a:p>
            <a:pPr algn="ctr"/>
            <a:r>
              <a:rPr sz="900" b="0">
                <a:solidFill>
                  <a:srgbClr val="262626"/>
                </a:solidFill>
                <a:latin typeface="Arial"/>
              </a:rPr>
              <a:t>implement</a:t>
            </a:r>
          </a:p>
        </p:txBody>
      </p:sp>
      <p:sp>
        <p:nvSpPr>
          <p:cNvPr id="108" name="TextBox 107"/>
          <p:cNvSpPr txBox="1"/>
          <p:nvPr/>
        </p:nvSpPr>
        <p:spPr>
          <a:xfrm>
            <a:off x="502920" y="2788920"/>
            <a:ext cx="3931920" cy="1005840"/>
          </a:xfrm>
          <a:prstGeom prst="rect">
            <a:avLst/>
          </a:prstGeom>
          <a:noFill/>
        </p:spPr>
        <p:txBody>
          <a:bodyPr wrap="square" anchor="t" lIns="0" rIns="0" tIns="0" bIns="0">
            <a:spAutoFit/>
          </a:bodyPr>
          <a:lstStyle/>
          <a:p>
            <a:pPr algn="l"/>
            <a:r>
              <a:rPr sz="1100" b="1">
                <a:solidFill>
                  <a:srgbClr val="262626"/>
                </a:solidFill>
                <a:latin typeface="Arial"/>
              </a:rPr>
              <a:t>specify — </a:t>
            </a:r>
            <a:r>
              <a:rPr sz="1000" b="0">
                <a:solidFill>
                  <a:srgbClr val="262626"/>
                </a:solidFill>
                <a:latin typeface="Arial"/>
              </a:rPr>
              <a:t>“no inventar baseline, owner</a:t>
            </a:r>
          </a:p>
          <a:p>
            <a:pPr algn="l"/>
            <a:r>
              <a:rPr sz="1000" b="0">
                <a:solidFill>
                  <a:srgbClr val="262626"/>
                </a:solidFill>
                <a:latin typeface="Arial"/>
              </a:rPr>
              <a:t>ni verdad de dominio”</a:t>
            </a:r>
          </a:p>
          <a:p>
            <a:pPr algn="l"/>
            <a:r>
              <a:rPr sz="1100" b="1">
                <a:solidFill>
                  <a:srgbClr val="262626"/>
                </a:solidFill>
                <a:latin typeface="Arial"/>
              </a:rPr>
              <a:t>plan — </a:t>
            </a:r>
            <a:r>
              <a:rPr sz="1000" b="0">
                <a:solidFill>
                  <a:srgbClr val="262626"/>
                </a:solidFill>
                <a:latin typeface="Arial"/>
              </a:rPr>
              <a:t>Constitution Check: 7 veredictos.</a:t>
            </a:r>
          </a:p>
          <a:p>
            <a:pPr algn="l"/>
            <a:r>
              <a:rPr sz="1000" b="0">
                <a:solidFill>
                  <a:srgbClr val="262626"/>
                </a:solidFill>
                <a:latin typeface="Arial"/>
              </a:rPr>
              <a:t>VIOLA detiene el plan; el camino es el ADR.</a:t>
            </a:r>
          </a:p>
          <a:p>
            <a:pPr algn="l"/>
            <a:r>
              <a:rPr sz="1100" b="1">
                <a:solidFill>
                  <a:srgbClr val="262626"/>
                </a:solidFill>
                <a:latin typeface="Arial"/>
              </a:rPr>
              <a:t>tasks — </a:t>
            </a:r>
            <a:r>
              <a:rPr sz="1000" b="0">
                <a:solidFill>
                  <a:srgbClr val="262626"/>
                </a:solidFill>
                <a:latin typeface="Arial"/>
              </a:rPr>
              <a:t>cobertura bidireccional: cada FR con</a:t>
            </a:r>
          </a:p>
          <a:p>
            <a:pPr algn="l"/>
            <a:r>
              <a:rPr sz="1000" b="0">
                <a:solidFill>
                  <a:srgbClr val="262626"/>
                </a:solidFill>
                <a:latin typeface="Arial"/>
              </a:rPr>
              <a:t>una tarea; ninguna tarea sin requisito.</a:t>
            </a:r>
          </a:p>
        </p:txBody>
      </p:sp>
      <p:sp>
        <p:nvSpPr>
          <p:cNvPr id="109" name="TextBox 108"/>
          <p:cNvSpPr txBox="1"/>
          <p:nvPr/>
        </p:nvSpPr>
        <p:spPr>
          <a:xfrm>
            <a:off x="4709160" y="2788920"/>
            <a:ext cx="3931920" cy="1005840"/>
          </a:xfrm>
          <a:prstGeom prst="rect">
            <a:avLst/>
          </a:prstGeom>
          <a:noFill/>
        </p:spPr>
        <p:txBody>
          <a:bodyPr wrap="square" anchor="t" lIns="0" rIns="0" tIns="0" bIns="0">
            <a:spAutoFit/>
          </a:bodyPr>
          <a:lstStyle/>
          <a:p>
            <a:pPr algn="l"/>
            <a:r>
              <a:rPr sz="1100" b="1">
                <a:solidFill>
                  <a:srgbClr val="262626"/>
                </a:solidFill>
                <a:latin typeface="Arial"/>
              </a:rPr>
              <a:t>analyze — </a:t>
            </a:r>
            <a:r>
              <a:rPr sz="1000" b="0">
                <a:solidFill>
                  <a:srgbClr val="262626"/>
                </a:solidFill>
                <a:latin typeface="Arial"/>
              </a:rPr>
              <a:t>“modo estrictamente solo lectura”.</a:t>
            </a:r>
          </a:p>
          <a:p>
            <a:pPr algn="l"/>
            <a:r>
              <a:rPr sz="1000" b="0">
                <a:solidFill>
                  <a:srgbClr val="262626"/>
                </a:solidFill>
                <a:latin typeface="Arial"/>
              </a:rPr>
              <a:t>Bloquea con cualquier CRITICAL o HIGH.</a:t>
            </a:r>
          </a:p>
          <a:p>
            <a:pPr algn="l"/>
            <a:r>
              <a:rPr sz="1000" b="0">
                <a:solidFill>
                  <a:srgbClr val="262626"/>
                </a:solidFill>
                <a:latin typeface="Arial"/>
              </a:rPr>
              <a:t>Propone correcciones sin aplicarlas.</a:t>
            </a:r>
          </a:p>
          <a:p>
            <a:pPr algn="l"/>
            <a:r>
              <a:rPr sz="1100" b="1">
                <a:solidFill>
                  <a:srgbClr val="262626"/>
                </a:solidFill>
                <a:latin typeface="Arial"/>
              </a:rPr>
              <a:t>implement — </a:t>
            </a:r>
            <a:r>
              <a:rPr sz="1000" b="0">
                <a:solidFill>
                  <a:srgbClr val="262626"/>
                </a:solidFill>
                <a:latin typeface="Arial"/>
              </a:rPr>
              <a:t>“corregir siempre la fuente y</a:t>
            </a:r>
          </a:p>
          <a:p>
            <a:pPr algn="l"/>
            <a:r>
              <a:rPr sz="1000" b="0">
                <a:solidFill>
                  <a:srgbClr val="262626"/>
                </a:solidFill>
                <a:latin typeface="Arial"/>
              </a:rPr>
              <a:t>regenerar; no editar a mano vistas compiladas”.</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chemeClr val="dk1"/>
                </a:solidFill>
                <a:latin typeface="Arial"/>
                <a:ea typeface="Google Sans"/>
                <a:cs typeface="Google Sans"/>
                <a:sym typeface="Google Sans"/>
              </a:rPr>
              <a:t>specify: FR y SC</a:t>
            </a:r>
            <a:endParaRPr b="1" sz="3000">
              <a:solidFill>
                <a:schemeClr val="dk1"/>
              </a:solidFill>
              <a:latin typeface="Google Sans"/>
              <a:ea typeface="Google Sans"/>
              <a:cs typeface="Google Sans"/>
              <a:sym typeface="Google Sans"/>
            </a:endParaRP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621792" y="1554480"/>
            <a:ext cx="7863840" cy="502920"/>
          </a:xfrm>
          <a:prstGeom prst="rect">
            <a:avLst/>
          </a:prstGeom>
          <a:noFill/>
        </p:spPr>
        <p:txBody>
          <a:bodyPr wrap="square" anchor="t" lIns="0" rIns="0" tIns="0" bIns="0">
            <a:spAutoFit/>
          </a:bodyPr>
          <a:lstStyle/>
          <a:p>
            <a:pPr algn="l"/>
            <a:r>
              <a:rPr sz="1300" b="0">
                <a:solidFill>
                  <a:srgbClr val="262626"/>
                </a:solidFill>
                <a:latin typeface="Arial"/>
              </a:rPr>
              <a:t>Un FR declara. Un SC es falsable.</a:t>
            </a:r>
          </a:p>
          <a:p>
            <a:pPr algn="l"/>
            <a:r>
              <a:rPr sz="1300" b="0">
                <a:solidFill>
                  <a:srgbClr val="262626"/>
                </a:solidFill>
                <a:latin typeface="Arial"/>
              </a:rPr>
              <a:t>Sin decisiones de implementación.</a:t>
            </a:r>
          </a:p>
        </p:txBody>
      </p:sp>
      <p:sp>
        <p:nvSpPr>
          <p:cNvPr id="105" name="Rectangle 104"/>
          <p:cNvSpPr/>
          <p:nvPr/>
        </p:nvSpPr>
        <p:spPr>
          <a:xfrm>
            <a:off x="621792" y="2194560"/>
            <a:ext cx="7900416" cy="1271587"/>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6" name="Rectangle 105"/>
          <p:cNvSpPr/>
          <p:nvPr/>
        </p:nvSpPr>
        <p:spPr>
          <a:xfrm>
            <a:off x="621792" y="2194560"/>
            <a:ext cx="7900416"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7" name="TextBox 106"/>
          <p:cNvSpPr txBox="1"/>
          <p:nvPr/>
        </p:nvSpPr>
        <p:spPr>
          <a:xfrm>
            <a:off x="731520" y="2217420"/>
            <a:ext cx="7680960" cy="182880"/>
          </a:xfrm>
          <a:prstGeom prst="rect">
            <a:avLst/>
          </a:prstGeom>
          <a:noFill/>
        </p:spPr>
        <p:txBody>
          <a:bodyPr wrap="none" lIns="0" rIns="0" tIns="0" bIns="0">
            <a:spAutoFit/>
          </a:bodyPr>
          <a:lstStyle/>
          <a:p>
            <a:r>
              <a:rPr sz="900">
                <a:solidFill>
                  <a:srgbClr val="A0A0A8"/>
                </a:solidFill>
                <a:latin typeface="Courier New"/>
              </a:rPr>
              <a:t>spec.md · FR/SC</a:t>
            </a:r>
          </a:p>
        </p:txBody>
      </p:sp>
      <p:sp>
        <p:nvSpPr>
          <p:cNvPr id="108" name="TextBox 107"/>
          <p:cNvSpPr txBox="1"/>
          <p:nvPr/>
        </p:nvSpPr>
        <p:spPr>
          <a:xfrm>
            <a:off x="731520" y="2532887"/>
            <a:ext cx="7680960" cy="814387"/>
          </a:xfrm>
          <a:prstGeom prst="rect">
            <a:avLst/>
          </a:prstGeom>
          <a:noFill/>
        </p:spPr>
        <p:txBody>
          <a:bodyPr wrap="none" lIns="0" rIns="0" tIns="0" bIns="0">
            <a:spAutoFit/>
          </a:bodyPr>
          <a:lstStyle/>
          <a:p>
            <a:pPr>
              <a:lnSpc>
                <a:spcPts val="1282"/>
              </a:lnSpc>
            </a:pPr>
            <a:r>
              <a:rPr sz="950">
                <a:solidFill>
                  <a:srgbClr val="D8D8DC"/>
                </a:solidFill>
                <a:latin typeface="Courier New"/>
              </a:rPr>
              <a:t>FR-005: existe un procedimiento reproducible y reversible que introduce una deriva</a:t>
            </a:r>
          </a:p>
          <a:p>
            <a:pPr>
              <a:lnSpc>
                <a:spcPts val="1282"/>
              </a:lnSpc>
            </a:pPr>
            <a:r>
              <a:rPr sz="950">
                <a:solidFill>
                  <a:srgbClr val="D8D8DC"/>
                </a:solidFill>
                <a:latin typeface="Courier New"/>
              </a:rPr>
              <a:t>        deliberada en el contrato y demuestra que el build falla señalando el campo.</a:t>
            </a:r>
          </a:p>
          <a:p>
            <a:pPr>
              <a:lnSpc>
                <a:spcPts val="1282"/>
              </a:lnSpc>
            </a:pPr>
            <a:r>
              <a:rPr sz="950">
                <a:solidFill>
                  <a:srgbClr val="D8D8DC"/>
                </a:solidFill>
                <a:latin typeface="Courier New"/>
              </a:rPr>
              <a:t/>
            </a:r>
          </a:p>
          <a:p>
            <a:pPr>
              <a:lnSpc>
                <a:spcPts val="1282"/>
              </a:lnSpc>
            </a:pPr>
            <a:r>
              <a:rPr sz="950">
                <a:solidFill>
                  <a:srgbClr val="D8D8DC"/>
                </a:solidFill>
                <a:latin typeface="Courier New"/>
              </a:rPr>
              <a:t>SC-003: con la deriva introducida, la compilación falla, el error identifica el campo</a:t>
            </a:r>
          </a:p>
          <a:p>
            <a:pPr>
              <a:lnSpc>
                <a:spcPts val="1282"/>
              </a:lnSpc>
            </a:pPr>
            <a:r>
              <a:rPr sz="950">
                <a:solidFill>
                  <a:srgbClr val="D8D8DC"/>
                </a:solidFill>
                <a:latin typeface="Courier New"/>
              </a:rPr>
              <a:t>        derivado y no se produce ningún artefacto ejecutable.</a:t>
            </a:r>
          </a:p>
        </p:txBody>
      </p:sp>
      <p:sp>
        <p:nvSpPr>
          <p:cNvPr id="109" name="TextBox 108"/>
          <p:cNvSpPr txBox="1"/>
          <p:nvPr/>
        </p:nvSpPr>
        <p:spPr>
          <a:xfrm>
            <a:off x="621792" y="3749039"/>
            <a:ext cx="7900416" cy="731520"/>
          </a:xfrm>
          <a:prstGeom prst="rect">
            <a:avLst/>
          </a:prstGeom>
          <a:noFill/>
        </p:spPr>
        <p:txBody>
          <a:bodyPr wrap="square" anchor="t" lIns="0" rIns="0" tIns="0" bIns="0">
            <a:spAutoFit/>
          </a:bodyPr>
          <a:lstStyle/>
          <a:p>
            <a:pPr algn="l"/>
            <a:r>
              <a:rPr sz="1200" b="1">
                <a:solidFill>
                  <a:srgbClr val="FFFFFF"/>
                </a:solidFill>
                <a:latin typeface="Arial"/>
              </a:rPr>
              <a:t>El FR describe la intención. El SC dice cómo sabemos si mentimos.</a:t>
            </a:r>
          </a:p>
          <a:p>
            <a:pPr algn="l"/>
            <a:r>
              <a:rPr sz="1200" b="1">
                <a:solidFill>
                  <a:srgbClr val="FFFFFF"/>
                </a:solidFill>
                <a:latin typeface="Arial"/>
              </a:rPr>
              <a:t>Si no podés escribir el SC, el FR todavía no está claro.</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chemeClr val="dk1"/>
                </a:solidFill>
                <a:latin typeface="Arial"/>
                <a:ea typeface="Google Sans"/>
                <a:cs typeface="Google Sans"/>
                <a:sym typeface="Google Sans"/>
              </a:rPr>
              <a:t>plan: Constitution Check</a:t>
            </a:r>
            <a:endParaRPr b="1" sz="3000">
              <a:solidFill>
                <a:schemeClr val="dk1"/>
              </a:solidFill>
              <a:latin typeface="Google Sans"/>
              <a:ea typeface="Google Sans"/>
              <a:cs typeface="Google Sans"/>
              <a:sym typeface="Google Sans"/>
            </a:endParaRP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621792" y="1554480"/>
            <a:ext cx="7863840" cy="502920"/>
          </a:xfrm>
          <a:prstGeom prst="rect">
            <a:avLst/>
          </a:prstGeom>
          <a:noFill/>
        </p:spPr>
        <p:txBody>
          <a:bodyPr wrap="square" anchor="t" lIns="0" rIns="0" tIns="0" bIns="0">
            <a:spAutoFit/>
          </a:bodyPr>
          <a:lstStyle/>
          <a:p>
            <a:pPr algn="l"/>
            <a:r>
              <a:rPr sz="1300" b="0">
                <a:solidFill>
                  <a:srgbClr val="262626"/>
                </a:solidFill>
                <a:latin typeface="Arial"/>
              </a:rPr>
              <a:t>Siete veredictos. Uno por artículo.</a:t>
            </a:r>
          </a:p>
          <a:p>
            <a:pPr algn="l"/>
            <a:r>
              <a:rPr sz="1300" b="0">
                <a:solidFill>
                  <a:srgbClr val="262626"/>
                </a:solidFill>
                <a:latin typeface="Arial"/>
              </a:rPr>
              <a:t>VIOLA detiene el plan.</a:t>
            </a:r>
          </a:p>
        </p:txBody>
      </p:sp>
      <p:sp>
        <p:nvSpPr>
          <p:cNvPr id="105" name="Rectangle 104"/>
          <p:cNvSpPr/>
          <p:nvPr/>
        </p:nvSpPr>
        <p:spPr>
          <a:xfrm>
            <a:off x="621792" y="2148840"/>
            <a:ext cx="7900416" cy="1760220"/>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6" name="Rectangle 105"/>
          <p:cNvSpPr/>
          <p:nvPr/>
        </p:nvSpPr>
        <p:spPr>
          <a:xfrm>
            <a:off x="621792" y="2148840"/>
            <a:ext cx="7900416"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7" name="TextBox 106"/>
          <p:cNvSpPr txBox="1"/>
          <p:nvPr/>
        </p:nvSpPr>
        <p:spPr>
          <a:xfrm>
            <a:off x="731520" y="2171700"/>
            <a:ext cx="7680960" cy="182880"/>
          </a:xfrm>
          <a:prstGeom prst="rect">
            <a:avLst/>
          </a:prstGeom>
          <a:noFill/>
        </p:spPr>
        <p:txBody>
          <a:bodyPr wrap="none" lIns="0" rIns="0" tIns="0" bIns="0">
            <a:spAutoFit/>
          </a:bodyPr>
          <a:lstStyle/>
          <a:p>
            <a:r>
              <a:rPr sz="900">
                <a:solidFill>
                  <a:srgbClr val="A0A0A8"/>
                </a:solidFill>
                <a:latin typeface="Courier New"/>
              </a:rPr>
              <a:t>plan.md · Constitution Check</a:t>
            </a:r>
          </a:p>
        </p:txBody>
      </p:sp>
      <p:sp>
        <p:nvSpPr>
          <p:cNvPr id="108" name="TextBox 107"/>
          <p:cNvSpPr txBox="1"/>
          <p:nvPr/>
        </p:nvSpPr>
        <p:spPr>
          <a:xfrm>
            <a:off x="731520" y="2487168"/>
            <a:ext cx="7680960" cy="1303020"/>
          </a:xfrm>
          <a:prstGeom prst="rect">
            <a:avLst/>
          </a:prstGeom>
          <a:noFill/>
        </p:spPr>
        <p:txBody>
          <a:bodyPr wrap="none" lIns="0" rIns="0" tIns="0" bIns="0">
            <a:spAutoFit/>
          </a:bodyPr>
          <a:lstStyle/>
          <a:p>
            <a:pPr>
              <a:lnSpc>
                <a:spcPts val="1282"/>
              </a:lnSpc>
            </a:pPr>
            <a:r>
              <a:rPr sz="950">
                <a:solidFill>
                  <a:srgbClr val="D8D8DC"/>
                </a:solidFill>
                <a:latin typeface="Courier New"/>
              </a:rPr>
              <a:t>| # | Artículo                      | Veredicto | Evidencia                       |</a:t>
            </a:r>
          </a:p>
          <a:p>
            <a:pPr>
              <a:lnSpc>
                <a:spcPts val="1282"/>
              </a:lnSpc>
            </a:pPr>
            <a:r>
              <a:rPr sz="950">
                <a:solidFill>
                  <a:srgbClr val="D8D8DC"/>
                </a:solidFill>
                <a:latin typeface="Courier New"/>
              </a:rPr>
              <a:t>| I | El conocimiento manda         | PASS      | el contrato vive en la spec     |</a:t>
            </a:r>
          </a:p>
          <a:p>
            <a:pPr>
              <a:lnSpc>
                <a:spcPts val="1282"/>
              </a:lnSpc>
            </a:pPr>
            <a:r>
              <a:rPr sz="950">
                <a:solidFill>
                  <a:srgbClr val="D8D8DC"/>
                </a:solidFill>
                <a:latin typeface="Courier New"/>
              </a:rPr>
              <a:t>| II| Spec antes que artefacto      | PASS      | FR/SC antes del job             |</a:t>
            </a:r>
          </a:p>
          <a:p>
            <a:pPr>
              <a:lnSpc>
                <a:spcPts val="1282"/>
              </a:lnSpc>
            </a:pPr>
            <a:r>
              <a:rPr sz="950">
                <a:solidFill>
                  <a:srgbClr val="D8D8DC"/>
                </a:solidFill>
                <a:latin typeface="Courier New"/>
              </a:rPr>
              <a:t>|III| El canon crece por decisión   | N/A       | no hay frontera estructural     |</a:t>
            </a:r>
          </a:p>
          <a:p>
            <a:pPr>
              <a:lnSpc>
                <a:spcPts val="1282"/>
              </a:lnSpc>
            </a:pPr>
            <a:r>
              <a:rPr sz="950">
                <a:solidFill>
                  <a:srgbClr val="D8D8DC"/>
                </a:solidFill>
                <a:latin typeface="Courier New"/>
              </a:rPr>
              <a:t>| IV| Cero cifras sin fuente        | PASS      | sum declara fuente y límite     |</a:t>
            </a:r>
          </a:p>
          <a:p>
            <a:pPr>
              <a:lnSpc>
                <a:spcPts val="1282"/>
              </a:lnSpc>
            </a:pPr>
            <a:r>
              <a:rPr sz="950">
                <a:solidFill>
                  <a:srgbClr val="D8D8DC"/>
                </a:solidFill>
                <a:latin typeface="Courier New"/>
              </a:rPr>
              <a:t>| V | Una fuente, muchas vistas     | PASS      | 1 fuente, 3 representaciones    |</a:t>
            </a:r>
          </a:p>
          <a:p>
            <a:pPr>
              <a:lnSpc>
                <a:spcPts val="1282"/>
              </a:lnSpc>
            </a:pPr>
            <a:r>
              <a:rPr sz="950">
                <a:solidFill>
                  <a:srgbClr val="D8D8DC"/>
                </a:solidFill>
                <a:latin typeface="Courier New"/>
              </a:rPr>
              <a:t>| VI| La IA consume; el humano firma| PASS      | el agente generó; el owner firma|</a:t>
            </a:r>
          </a:p>
          <a:p>
            <a:pPr>
              <a:lnSpc>
                <a:spcPts val="1282"/>
              </a:lnSpc>
            </a:pPr>
            <a:r>
              <a:rPr sz="950">
                <a:solidFill>
                  <a:srgbClr val="D8D8DC"/>
                </a:solidFill>
                <a:latin typeface="Courier New"/>
              </a:rPr>
              <a:t>|VII| Privacidad por diseño         | PASS      | T0, TPC-H sintético, sin PII    |</a:t>
            </a:r>
          </a:p>
        </p:txBody>
      </p:sp>
      <p:sp>
        <p:nvSpPr>
          <p:cNvPr id="109" name="TextBox 108"/>
          <p:cNvSpPr txBox="1"/>
          <p:nvPr/>
        </p:nvSpPr>
        <p:spPr>
          <a:xfrm>
            <a:off x="621792" y="4160520"/>
            <a:ext cx="7900416" cy="274320"/>
          </a:xfrm>
          <a:prstGeom prst="rect">
            <a:avLst/>
          </a:prstGeom>
          <a:noFill/>
        </p:spPr>
        <p:txBody>
          <a:bodyPr wrap="square" anchor="t" lIns="0" rIns="0" tIns="0" bIns="0">
            <a:spAutoFit/>
          </a:bodyPr>
          <a:lstStyle/>
          <a:p>
            <a:pPr algn="l"/>
            <a:r>
              <a:rPr sz="1100" b="0">
                <a:solidFill>
                  <a:srgbClr val="FFFFFF"/>
                </a:solidFill>
                <a:latin typeface="Arial"/>
              </a:rPr>
              <a:t>“Si el cambio es estructural y no existe ADR habilitante, detenerse y proponer el ADR”</a:t>
            </a:r>
          </a:p>
        </p:txBody>
      </p:sp>
      <p:sp>
        <p:nvSpPr>
          <p:cNvPr id="110" name="TextBox 109"/>
          <p:cNvSpPr txBox="1"/>
          <p:nvPr/>
        </p:nvSpPr>
        <p:spPr>
          <a:xfrm>
            <a:off x="621792" y="4453128"/>
            <a:ext cx="7900416" cy="228600"/>
          </a:xfrm>
          <a:prstGeom prst="rect">
            <a:avLst/>
          </a:prstGeom>
          <a:noFill/>
        </p:spPr>
        <p:txBody>
          <a:bodyPr wrap="square" anchor="t" lIns="0" rIns="0" tIns="0" bIns="0">
            <a:spAutoFit/>
          </a:bodyPr>
          <a:lstStyle/>
          <a:p>
            <a:pPr algn="l"/>
            <a:r>
              <a:rPr sz="1000" b="0">
                <a:solidFill>
                  <a:srgbClr val="FFFFFF"/>
                </a:solidFill>
                <a:latin typeface="Arial"/>
              </a:rPr>
              <a:t>— plan.md</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La cadena trazable</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Cada eslabón resuelve al siguiente. Si uno falta, el gate no cierra.</a:t>
            </a:r>
          </a:p>
        </p:txBody>
      </p:sp>
      <p:sp>
        <p:nvSpPr>
          <p:cNvPr id="93" name="Rounded Rectangle 92"/>
          <p:cNvSpPr/>
          <p:nvPr/>
        </p:nvSpPr>
        <p:spPr>
          <a:xfrm>
            <a:off x="502920" y="1737360"/>
            <a:ext cx="1051560" cy="54864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intención</a:t>
            </a:r>
          </a:p>
        </p:txBody>
      </p:sp>
      <p:cxnSp>
        <p:nvCxnSpPr>
          <p:cNvPr id="94" name="Connector 93"/>
          <p:cNvCxnSpPr/>
          <p:nvPr/>
        </p:nvCxnSpPr>
        <p:spPr>
          <a:xfrm>
            <a:off x="1554480" y="2011680"/>
            <a:ext cx="137160"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1691640" y="1737360"/>
            <a:ext cx="1051560" cy="54864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FR / SC</a:t>
            </a:r>
          </a:p>
        </p:txBody>
      </p:sp>
      <p:cxnSp>
        <p:nvCxnSpPr>
          <p:cNvPr id="96" name="Connector 95"/>
          <p:cNvCxnSpPr/>
          <p:nvPr/>
        </p:nvCxnSpPr>
        <p:spPr>
          <a:xfrm>
            <a:off x="2743200" y="2011680"/>
            <a:ext cx="137160"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Rounded Rectangle 96"/>
          <p:cNvSpPr/>
          <p:nvPr/>
        </p:nvSpPr>
        <p:spPr>
          <a:xfrm>
            <a:off x="2880360" y="1737360"/>
            <a:ext cx="1051560" cy="54864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plan</a:t>
            </a:r>
          </a:p>
        </p:txBody>
      </p:sp>
      <p:cxnSp>
        <p:nvCxnSpPr>
          <p:cNvPr id="98" name="Connector 97"/>
          <p:cNvCxnSpPr/>
          <p:nvPr/>
        </p:nvCxnSpPr>
        <p:spPr>
          <a:xfrm>
            <a:off x="3931920" y="2011680"/>
            <a:ext cx="137160"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Rounded Rectangle 98"/>
          <p:cNvSpPr/>
          <p:nvPr/>
        </p:nvSpPr>
        <p:spPr>
          <a:xfrm>
            <a:off x="4069080" y="1737360"/>
            <a:ext cx="1051560" cy="54864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tarea</a:t>
            </a:r>
          </a:p>
        </p:txBody>
      </p:sp>
      <p:cxnSp>
        <p:nvCxnSpPr>
          <p:cNvPr id="100" name="Connector 99"/>
          <p:cNvCxnSpPr/>
          <p:nvPr/>
        </p:nvCxnSpPr>
        <p:spPr>
          <a:xfrm>
            <a:off x="5120640" y="2011680"/>
            <a:ext cx="137160"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5257800" y="1737360"/>
            <a:ext cx="1051560" cy="54864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diff</a:t>
            </a:r>
          </a:p>
        </p:txBody>
      </p:sp>
      <p:cxnSp>
        <p:nvCxnSpPr>
          <p:cNvPr id="102" name="Connector 101"/>
          <p:cNvCxnSpPr/>
          <p:nvPr/>
        </p:nvCxnSpPr>
        <p:spPr>
          <a:xfrm>
            <a:off x="6309360" y="2011680"/>
            <a:ext cx="137160"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Rounded Rectangle 102"/>
          <p:cNvSpPr/>
          <p:nvPr/>
        </p:nvSpPr>
        <p:spPr>
          <a:xfrm>
            <a:off x="6446520" y="1737360"/>
            <a:ext cx="1051560" cy="54864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gate</a:t>
            </a:r>
          </a:p>
        </p:txBody>
      </p:sp>
      <p:cxnSp>
        <p:nvCxnSpPr>
          <p:cNvPr id="104" name="Connector 103"/>
          <p:cNvCxnSpPr/>
          <p:nvPr/>
        </p:nvCxnSpPr>
        <p:spPr>
          <a:xfrm>
            <a:off x="7498079" y="2011680"/>
            <a:ext cx="137161" cy="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7635240" y="1737360"/>
            <a:ext cx="1051560" cy="548640"/>
          </a:xfrm>
          <a:prstGeom prst="roundRect">
            <a:avLst>
              <a:gd name="adj" fmla="val 8000"/>
            </a:avLst>
          </a:prstGeom>
          <a:solidFill>
            <a:srgbClr val="0F8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Arial"/>
              </a:rPr>
              <a:t>evidencia</a:t>
            </a:r>
          </a:p>
        </p:txBody>
      </p:sp>
      <p:sp>
        <p:nvSpPr>
          <p:cNvPr id="106" name="TextBox 105"/>
          <p:cNvSpPr txBox="1"/>
          <p:nvPr/>
        </p:nvSpPr>
        <p:spPr>
          <a:xfrm>
            <a:off x="1325880" y="2468880"/>
            <a:ext cx="7315200" cy="274320"/>
          </a:xfrm>
          <a:prstGeom prst="rect">
            <a:avLst/>
          </a:prstGeom>
          <a:noFill/>
        </p:spPr>
        <p:txBody>
          <a:bodyPr wrap="square" anchor="t" lIns="0" rIns="0" tIns="0" bIns="0">
            <a:spAutoFit/>
          </a:bodyPr>
          <a:lstStyle/>
          <a:p>
            <a:pPr algn="l"/>
            <a:r>
              <a:rPr sz="1200" b="1">
                <a:solidFill>
                  <a:srgbClr val="262626"/>
                </a:solidFill>
                <a:latin typeface="Arial"/>
              </a:rPr>
              <a:t>Y se materializa en una matriz, no en una promesa:</a:t>
            </a:r>
          </a:p>
        </p:txBody>
      </p:sp>
      <p:sp>
        <p:nvSpPr>
          <p:cNvPr id="107" name="Rectangle 106"/>
          <p:cNvSpPr/>
          <p:nvPr/>
        </p:nvSpPr>
        <p:spPr>
          <a:xfrm>
            <a:off x="1325880" y="2770632"/>
            <a:ext cx="7315200" cy="1074420"/>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8" name="Rectangle 107"/>
          <p:cNvSpPr/>
          <p:nvPr/>
        </p:nvSpPr>
        <p:spPr>
          <a:xfrm>
            <a:off x="1325880" y="2770632"/>
            <a:ext cx="7315200"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9" name="TextBox 108"/>
          <p:cNvSpPr txBox="1"/>
          <p:nvPr/>
        </p:nvSpPr>
        <p:spPr>
          <a:xfrm>
            <a:off x="1435607" y="2793491"/>
            <a:ext cx="7095744" cy="182880"/>
          </a:xfrm>
          <a:prstGeom prst="rect">
            <a:avLst/>
          </a:prstGeom>
          <a:noFill/>
        </p:spPr>
        <p:txBody>
          <a:bodyPr wrap="none" lIns="0" rIns="0" tIns="0" bIns="0">
            <a:spAutoFit/>
          </a:bodyPr>
          <a:lstStyle/>
          <a:p>
            <a:r>
              <a:rPr sz="900">
                <a:solidFill>
                  <a:srgbClr val="A0A0A8"/>
                </a:solidFill>
                <a:latin typeface="Courier New"/>
              </a:rPr>
              <a:t>verification.md · matriz de trazabilidad</a:t>
            </a:r>
          </a:p>
        </p:txBody>
      </p:sp>
      <p:sp>
        <p:nvSpPr>
          <p:cNvPr id="110" name="TextBox 109"/>
          <p:cNvSpPr txBox="1"/>
          <p:nvPr/>
        </p:nvSpPr>
        <p:spPr>
          <a:xfrm>
            <a:off x="1435607" y="3108959"/>
            <a:ext cx="7095744" cy="617220"/>
          </a:xfrm>
          <a:prstGeom prst="rect">
            <a:avLst/>
          </a:prstGeom>
          <a:noFill/>
        </p:spPr>
        <p:txBody>
          <a:bodyPr wrap="none" lIns="0" rIns="0" tIns="0" bIns="0">
            <a:spAutoFit/>
          </a:bodyPr>
          <a:lstStyle/>
          <a:p>
            <a:pPr>
              <a:lnSpc>
                <a:spcPts val="1215"/>
              </a:lnSpc>
            </a:pPr>
            <a:r>
              <a:rPr sz="900">
                <a:solidFill>
                  <a:srgbClr val="D8D8DC"/>
                </a:solidFill>
                <a:latin typeface="Courier New"/>
              </a:rPr>
              <a:t>| SC     | FR     | Verificación                       | Puerta | Evidencia                        |</a:t>
            </a:r>
          </a:p>
          <a:p>
            <a:pPr>
              <a:lnSpc>
                <a:spcPts val="1215"/>
              </a:lnSpc>
            </a:pPr>
            <a:r>
              <a:rPr sz="900">
                <a:solidFill>
                  <a:srgbClr val="D8D8DC"/>
                </a:solidFill>
                <a:latin typeface="Courier New"/>
              </a:rPr>
              <a:t>|--------|--------|------------------------------------|--------|----------------------------------|</a:t>
            </a:r>
          </a:p>
          <a:p>
            <a:pPr>
              <a:lnSpc>
                <a:spcPts val="1215"/>
              </a:lnSpc>
            </a:pPr>
            <a:r>
              <a:rPr sz="900">
                <a:solidFill>
                  <a:srgbClr val="D8D8DC"/>
                </a:solidFill>
                <a:latin typeface="Courier New"/>
              </a:rPr>
              <a:t>| SC-001 | FR-002 | RevenueWindowPipelineTest          | test   | sc-001-revenue-vs-referencia.txt |</a:t>
            </a:r>
          </a:p>
          <a:p>
            <a:pPr>
              <a:lnSpc>
                <a:spcPts val="1215"/>
              </a:lnSpc>
            </a:pPr>
            <a:r>
              <a:rPr sz="900">
                <a:solidFill>
                  <a:srgbClr val="D8D8DC"/>
                </a:solidFill>
                <a:latin typeface="Courier New"/>
              </a:rPr>
              <a:t>| SC-003 | FR-005 | canary-deriva.sh → build rojo      | javac  | sc-003-build-rojo-deriva.txt     |</a:t>
            </a:r>
          </a:p>
        </p:txBody>
      </p:sp>
      <p:sp>
        <p:nvSpPr>
          <p:cNvPr id="111" name="TextBox 110"/>
          <p:cNvSpPr txBox="1"/>
          <p:nvPr/>
        </p:nvSpPr>
        <p:spPr>
          <a:xfrm>
            <a:off x="1325880" y="4123944"/>
            <a:ext cx="7360920" cy="274320"/>
          </a:xfrm>
          <a:prstGeom prst="rect">
            <a:avLst/>
          </a:prstGeom>
          <a:noFill/>
        </p:spPr>
        <p:txBody>
          <a:bodyPr wrap="square" anchor="t" lIns="0" rIns="0" tIns="0" bIns="0">
            <a:spAutoFit/>
          </a:bodyPr>
          <a:lstStyle/>
          <a:p>
            <a:pPr algn="l"/>
            <a:r>
              <a:rPr sz="1000" b="0">
                <a:solidFill>
                  <a:srgbClr val="5A5A5A"/>
                </a:solidFill>
                <a:latin typeface="Arial"/>
              </a:rPr>
              <a:t>“las rutas de evidencia se llenan al ejecutar la tarea y no constituyen un resultado anticipado” — ADR-0002</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solidFill>
                  <a:schemeClr val="dk1"/>
                </a:solidFill>
                <a:latin typeface="Arial"/>
                <a:ea typeface="Google Sans"/>
                <a:cs typeface="Google Sans"/>
                <a:sym typeface="Google Sans"/>
              </a:rPr>
              <a:t>15 gates, fail-closed</a:t>
            </a:r>
            <a:endParaRPr b="1" sz="3000">
              <a:solidFill>
                <a:schemeClr val="dk1"/>
              </a:solidFill>
              <a:latin typeface="Google Sans"/>
              <a:ea typeface="Google Sans"/>
              <a:cs typeface="Google Sans"/>
              <a:sym typeface="Google Sans"/>
            </a:endParaRP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621792" y="1600200"/>
            <a:ext cx="3931920" cy="1737360"/>
          </a:xfrm>
          <a:prstGeom prst="rect">
            <a:avLst/>
          </a:prstGeom>
          <a:noFill/>
        </p:spPr>
        <p:txBody>
          <a:bodyPr wrap="square" anchor="t" lIns="0" rIns="0" tIns="0" bIns="0">
            <a:spAutoFit/>
          </a:bodyPr>
          <a:lstStyle/>
          <a:p>
            <a:pPr algn="l">
              <a:lnSpc>
                <a:spcPct val="130000"/>
              </a:lnSpc>
            </a:pPr>
            <a:r>
              <a:rPr sz="1100" b="0">
                <a:solidFill>
                  <a:srgbClr val="FFFFFF"/>
                </a:solidFill>
                <a:latin typeface="Arial"/>
              </a:rPr>
              <a:t>FND-PROJECTION · CATALOG-PROJECTION</a:t>
            </a:r>
          </a:p>
          <a:p>
            <a:pPr algn="l">
              <a:lnSpc>
                <a:spcPct val="130000"/>
              </a:lnSpc>
            </a:pPr>
            <a:r>
              <a:rPr sz="1100" b="0">
                <a:solidFill>
                  <a:srgbClr val="FFFFFF"/>
                </a:solidFill>
                <a:latin typeface="Arial"/>
              </a:rPr>
              <a:t>AGENT-PARITY · SDD-CONTRACT · KOM</a:t>
            </a:r>
          </a:p>
          <a:p>
            <a:pPr algn="l">
              <a:lnSpc>
                <a:spcPct val="130000"/>
              </a:lnSpc>
            </a:pPr>
            <a:r>
              <a:rPr sz="1100" b="0">
                <a:solidFill>
                  <a:srgbClr val="FFFFFF"/>
                </a:solidFill>
                <a:latin typeface="Arial"/>
              </a:rPr>
              <a:t>MONOREPO-STRUCTURE · TRACEABILITY</a:t>
            </a:r>
          </a:p>
          <a:p>
            <a:pPr algn="l">
              <a:lnSpc>
                <a:spcPct val="130000"/>
              </a:lnSpc>
            </a:pPr>
            <a:r>
              <a:rPr sz="1100" b="0">
                <a:solidFill>
                  <a:srgbClr val="FFFFFF"/>
                </a:solidFill>
                <a:latin typeface="Arial"/>
              </a:rPr>
              <a:t>BASELINE-SURFACE · CORE-CONFORMANCE</a:t>
            </a:r>
          </a:p>
          <a:p>
            <a:pPr algn="l">
              <a:lnSpc>
                <a:spcPct val="130000"/>
              </a:lnSpc>
            </a:pPr>
            <a:r>
              <a:rPr sz="1100" b="0">
                <a:solidFill>
                  <a:srgbClr val="FFFFFF"/>
                </a:solidFill>
                <a:latin typeface="Arial"/>
              </a:rPr>
              <a:t>CLAIM-SURFACE · CORE-DISTRIBUTION</a:t>
            </a:r>
          </a:p>
          <a:p>
            <a:pPr algn="l">
              <a:lnSpc>
                <a:spcPct val="130000"/>
              </a:lnSpc>
            </a:pPr>
            <a:r>
              <a:rPr sz="1100" b="0">
                <a:solidFill>
                  <a:srgbClr val="FFFFFF"/>
                </a:solidFill>
                <a:latin typeface="Arial"/>
              </a:rPr>
              <a:t>CORE-RELEASE-SEAL · CORE-BASE-DEMO</a:t>
            </a:r>
          </a:p>
          <a:p>
            <a:pPr algn="l">
              <a:lnSpc>
                <a:spcPct val="130000"/>
              </a:lnSpc>
            </a:pPr>
            <a:r>
              <a:rPr sz="1100" b="0">
                <a:solidFill>
                  <a:srgbClr val="FFFFFF"/>
                </a:solidFill>
                <a:latin typeface="Arial"/>
              </a:rPr>
              <a:t>TEST · VALIDATE</a:t>
            </a:r>
          </a:p>
        </p:txBody>
      </p:sp>
      <p:sp>
        <p:nvSpPr>
          <p:cNvPr id="105" name="TextBox 104"/>
          <p:cNvSpPr txBox="1"/>
          <p:nvPr/>
        </p:nvSpPr>
        <p:spPr>
          <a:xfrm>
            <a:off x="4709160" y="1600200"/>
            <a:ext cx="3977639" cy="365760"/>
          </a:xfrm>
          <a:prstGeom prst="rect">
            <a:avLst/>
          </a:prstGeom>
          <a:noFill/>
        </p:spPr>
        <p:txBody>
          <a:bodyPr wrap="square" anchor="t" lIns="0" rIns="0" tIns="0" bIns="0">
            <a:spAutoFit/>
          </a:bodyPr>
          <a:lstStyle/>
          <a:p>
            <a:pPr algn="l"/>
            <a:r>
              <a:rPr sz="1200" b="1">
                <a:solidFill>
                  <a:srgbClr val="FFFFFF"/>
                </a:solidFill>
                <a:latin typeface="Arial"/>
              </a:rPr>
              <a:t>El runner falla sobre sí mismo:</a:t>
            </a:r>
          </a:p>
        </p:txBody>
      </p:sp>
      <p:sp>
        <p:nvSpPr>
          <p:cNvPr id="106" name="Rectangle 105"/>
          <p:cNvSpPr/>
          <p:nvPr/>
        </p:nvSpPr>
        <p:spPr>
          <a:xfrm>
            <a:off x="4709160" y="2011680"/>
            <a:ext cx="3977639" cy="1691640"/>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7" name="Rectangle 106"/>
          <p:cNvSpPr/>
          <p:nvPr/>
        </p:nvSpPr>
        <p:spPr>
          <a:xfrm>
            <a:off x="4709160" y="2011680"/>
            <a:ext cx="3977639"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8" name="TextBox 107"/>
          <p:cNvSpPr txBox="1"/>
          <p:nvPr/>
        </p:nvSpPr>
        <p:spPr>
          <a:xfrm>
            <a:off x="4818888" y="2034540"/>
            <a:ext cx="3758183" cy="182880"/>
          </a:xfrm>
          <a:prstGeom prst="rect">
            <a:avLst/>
          </a:prstGeom>
          <a:noFill/>
        </p:spPr>
        <p:txBody>
          <a:bodyPr wrap="none" lIns="0" rIns="0" tIns="0" bIns="0">
            <a:spAutoFit/>
          </a:bodyPr>
          <a:lstStyle/>
          <a:p>
            <a:r>
              <a:rPr sz="900">
                <a:solidFill>
                  <a:srgbClr val="A0A0A8"/>
                </a:solidFill>
                <a:latin typeface="Courier New"/>
              </a:rPr>
              <a:t>run_gates.py</a:t>
            </a:r>
          </a:p>
        </p:txBody>
      </p:sp>
      <p:sp>
        <p:nvSpPr>
          <p:cNvPr id="109" name="TextBox 108"/>
          <p:cNvSpPr txBox="1"/>
          <p:nvPr/>
        </p:nvSpPr>
        <p:spPr>
          <a:xfrm>
            <a:off x="4818888" y="2350008"/>
            <a:ext cx="3758183" cy="1234440"/>
          </a:xfrm>
          <a:prstGeom prst="rect">
            <a:avLst/>
          </a:prstGeom>
          <a:noFill/>
        </p:spPr>
        <p:txBody>
          <a:bodyPr wrap="none" lIns="0" rIns="0" tIns="0" bIns="0">
            <a:spAutoFit/>
          </a:bodyPr>
          <a:lstStyle/>
          <a:p>
            <a:pPr>
              <a:lnSpc>
                <a:spcPts val="1215"/>
              </a:lnSpc>
            </a:pPr>
            <a:r>
              <a:rPr sz="900">
                <a:solidFill>
                  <a:srgbClr val="D8D8DC"/>
                </a:solidFill>
                <a:latin typeface="Courier New"/>
              </a:rPr>
              <a:t>missing = REQUIRED_SCOPES - ids</a:t>
            </a:r>
          </a:p>
          <a:p>
            <a:pPr>
              <a:lnSpc>
                <a:spcPts val="1215"/>
              </a:lnSpc>
            </a:pPr>
            <a:r>
              <a:rPr sz="900">
                <a:solidFill>
                  <a:srgbClr val="D8D8DC"/>
                </a:solidFill>
                <a:latin typeface="Courier New"/>
              </a:rPr>
              <a:t>if missing:</a:t>
            </a:r>
          </a:p>
          <a:p>
            <a:pPr>
              <a:lnSpc>
                <a:spcPts val="1215"/>
              </a:lnSpc>
            </a:pPr>
            <a:r>
              <a:rPr sz="900">
                <a:solidFill>
                  <a:srgbClr val="D8D8DC"/>
                </a:solidFill>
                <a:latin typeface="Courier New"/>
              </a:rPr>
              <a:t>    raise ValueError(</a:t>
            </a:r>
          </a:p>
          <a:p>
            <a:pPr>
              <a:lnSpc>
                <a:spcPts val="1215"/>
              </a:lnSpc>
            </a:pPr>
            <a:r>
              <a:rPr sz="900">
                <a:solidFill>
                  <a:srgbClr val="D8D8DC"/>
                </a:solidFill>
                <a:latin typeface="Courier New"/>
              </a:rPr>
              <a:t>      f"gates obligatorios ausentes: {missing}")</a:t>
            </a:r>
          </a:p>
          <a:p>
            <a:pPr>
              <a:lnSpc>
                <a:spcPts val="1215"/>
              </a:lnSpc>
            </a:pPr>
            <a:r>
              <a:rPr sz="900">
                <a:solidFill>
                  <a:srgbClr val="D8D8DC"/>
                </a:solidFill>
                <a:latin typeface="Courier New"/>
              </a:rPr>
              <a:t/>
            </a:r>
          </a:p>
          <a:p>
            <a:pPr>
              <a:lnSpc>
                <a:spcPts val="1215"/>
              </a:lnSpc>
            </a:pPr>
            <a:r>
              <a:rPr sz="900">
                <a:solidFill>
                  <a:srgbClr val="D8D8DC"/>
                </a:solidFill>
                <a:latin typeface="Courier New"/>
              </a:rPr>
              <a:t># y para cada gate requerido:</a:t>
            </a:r>
          </a:p>
          <a:p>
            <a:pPr>
              <a:lnSpc>
                <a:spcPts val="1215"/>
              </a:lnSpc>
            </a:pPr>
            <a:r>
              <a:rPr sz="900">
                <a:solidFill>
                  <a:srgbClr val="D8D8DC"/>
                </a:solidFill>
                <a:latin typeface="Courier New"/>
              </a:rPr>
              <a:t>if not {"pre-push","ci"}.issubset(scopes):</a:t>
            </a:r>
          </a:p>
          <a:p>
            <a:pPr>
              <a:lnSpc>
                <a:spcPts val="1215"/>
              </a:lnSpc>
            </a:pPr>
            <a:r>
              <a:rPr sz="900">
                <a:solidFill>
                  <a:srgbClr val="D8D8DC"/>
                </a:solidFill>
                <a:latin typeface="Courier New"/>
              </a:rPr>
              <a:t>    raise ValueError(f"{id}: scope obligatorio")</a:t>
            </a:r>
          </a:p>
        </p:txBody>
      </p:sp>
      <p:sp>
        <p:nvSpPr>
          <p:cNvPr id="110" name="TextBox 109"/>
          <p:cNvSpPr txBox="1"/>
          <p:nvPr/>
        </p:nvSpPr>
        <p:spPr>
          <a:xfrm>
            <a:off x="4709160" y="3886200"/>
            <a:ext cx="3977639" cy="777240"/>
          </a:xfrm>
          <a:prstGeom prst="rect">
            <a:avLst/>
          </a:prstGeom>
          <a:noFill/>
        </p:spPr>
        <p:txBody>
          <a:bodyPr wrap="square" anchor="t" lIns="0" rIns="0" tIns="0" bIns="0">
            <a:spAutoFit/>
          </a:bodyPr>
          <a:lstStyle/>
          <a:p>
            <a:pPr algn="l"/>
            <a:r>
              <a:rPr sz="1000" b="0">
                <a:solidFill>
                  <a:srgbClr val="FFFFFF"/>
                </a:solidFill>
                <a:latin typeface="Arial"/>
              </a:rPr>
              <a:t>No podés desactivar un gate borrándolo del JSON:</a:t>
            </a:r>
          </a:p>
          <a:p>
            <a:pPr algn="l"/>
            <a:r>
              <a:rPr sz="1000" b="0">
                <a:solidFill>
                  <a:srgbClr val="FFFFFF"/>
                </a:solidFill>
                <a:latin typeface="Arial"/>
              </a:rPr>
              <a:t>el runner exige que exista y que su scope incluya</a:t>
            </a:r>
          </a:p>
          <a:p>
            <a:pPr algn="l"/>
            <a:r>
              <a:rPr sz="1000" b="0">
                <a:solidFill>
                  <a:srgbClr val="FFFFFF"/>
                </a:solidFill>
                <a:latin typeface="Arial"/>
              </a:rPr>
              <a:t>pre-push,ci. Debilitar el registro rompe el registro.</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5"/>
          <p:cNvSpPr txBox="1"/>
          <p:nvPr/>
        </p:nvSpPr>
        <p:spPr>
          <a:xfrm>
            <a:off x="4304875" y="1330722"/>
            <a:ext cx="3566160" cy="1591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400">
                <a:solidFill>
                  <a:schemeClr val="dk1"/>
                </a:solidFill>
                <a:latin typeface="Arial"/>
                <a:ea typeface="Google Sans"/>
                <a:cs typeface="Google Sans"/>
                <a:sym typeface="Google Sans"/>
              </a:rPr>
              <a:t>La demo</a:t>
            </a:r>
            <a:endParaRPr b="1" sz="4000">
              <a:solidFill>
                <a:schemeClr val="dk1"/>
              </a:solidFill>
              <a:latin typeface="Google Sans"/>
              <a:ea typeface="Google Sans"/>
              <a:cs typeface="Google Sans"/>
              <a:sym typeface="Google Sans"/>
            </a:endParaRPr>
          </a:p>
        </p:txBody>
      </p:sp>
      <p:sp>
        <p:nvSpPr>
          <p:cNvPr id="96" name="Google Shape;96;p25"/>
          <p:cNvSpPr txBox="1"/>
          <p:nvPr/>
        </p:nvSpPr>
        <p:spPr>
          <a:xfrm>
            <a:off x="221550" y="177100"/>
            <a:ext cx="4053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FFFFFF"/>
                </a:solidFill>
                <a:latin typeface="Google Sans"/>
                <a:ea typeface="Google Sans"/>
                <a:cs typeface="Google Sans"/>
                <a:sym typeface="Google Sans"/>
              </a:rPr>
              <a:t>KCD_Lima_Perú_2026</a:t>
            </a:r>
            <a:endParaRPr b="1" sz="1200">
              <a:solidFill>
                <a:srgbClr val="FFFFFF"/>
              </a:solidFill>
              <a:latin typeface="Google Sans"/>
              <a:ea typeface="Google Sans"/>
              <a:cs typeface="Google Sans"/>
              <a:sym typeface="Google Sans"/>
            </a:endParaRPr>
          </a:p>
        </p:txBody>
      </p:sp>
      <p:sp>
        <p:nvSpPr>
          <p:cNvPr id="97" name="TextBox 96"/>
          <p:cNvSpPr txBox="1"/>
          <p:nvPr/>
        </p:nvSpPr>
        <p:spPr>
          <a:xfrm>
            <a:off x="822960" y="1737360"/>
            <a:ext cx="2011680" cy="1371600"/>
          </a:xfrm>
          <a:prstGeom prst="rect">
            <a:avLst/>
          </a:prstGeom>
          <a:noFill/>
        </p:spPr>
        <p:txBody>
          <a:bodyPr wrap="square" anchor="t" lIns="0" rIns="0" tIns="0" bIns="0">
            <a:spAutoFit/>
          </a:bodyPr>
          <a:lstStyle/>
          <a:p>
            <a:pPr algn="l"/>
            <a:r>
              <a:rPr sz="9000" b="1">
                <a:solidFill>
                  <a:srgbClr val="FFFFFF"/>
                </a:solidFill>
                <a:latin typeface="Arial"/>
              </a:rPr>
              <a:t>03</a:t>
            </a:r>
          </a:p>
        </p:txBody>
      </p:sp>
      <p:sp>
        <p:nvSpPr>
          <p:cNvPr id="98" name="TextBox 97"/>
          <p:cNvSpPr txBox="1"/>
          <p:nvPr/>
        </p:nvSpPr>
        <p:spPr>
          <a:xfrm>
            <a:off x="4304875" y="3031950"/>
            <a:ext cx="3566160" cy="365760"/>
          </a:xfrm>
          <a:prstGeom prst="rect">
            <a:avLst/>
          </a:prstGeom>
          <a:noFill/>
        </p:spPr>
        <p:txBody>
          <a:bodyPr wrap="square" anchor="t" lIns="0" rIns="0" tIns="0" bIns="0">
            <a:spAutoFit/>
          </a:bodyPr>
          <a:lstStyle/>
          <a:p>
            <a:pPr algn="l"/>
            <a:r>
              <a:rPr sz="1200" b="0">
                <a:solidFill>
                  <a:srgbClr val="5A5A5A"/>
                </a:solidFill>
                <a:latin typeface="Arial"/>
              </a:rPr>
              <a:t>Kafka → Flink → Kafka, gobernado por la spec</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chemeClr val="dk1"/>
                </a:solidFill>
                <a:latin typeface="Arial"/>
                <a:ea typeface="Google Sans"/>
                <a:cs typeface="Google Sans"/>
                <a:sym typeface="Google Sans"/>
              </a:rPr>
              <a:t>El caso</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600200"/>
            <a:ext cx="393192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Revenue por cliente en ventana temporal</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Kafka orders-kcd2026 → Flink → revenue-por-cliente-ventana</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Sobre data-evolutionary, el repo de KCD 2025</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Módulo nuevo: data-kcd2026</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Flink 1.20.2 · Avro · Schema Registry · gate 43/43</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4709160" y="1600200"/>
            <a:ext cx="3931920" cy="320040"/>
          </a:xfrm>
          <a:prstGeom prst="rect">
            <a:avLst/>
          </a:prstGeom>
          <a:noFill/>
        </p:spPr>
        <p:txBody>
          <a:bodyPr wrap="square" anchor="t" lIns="0" rIns="0" tIns="0" bIns="0">
            <a:spAutoFit/>
          </a:bodyPr>
          <a:lstStyle/>
          <a:p>
            <a:pPr algn="l"/>
            <a:r>
              <a:rPr sz="1200" b="1">
                <a:solidFill>
                  <a:srgbClr val="FFFFFF"/>
                </a:solidFill>
                <a:latin typeface="Arial"/>
              </a:rPr>
              <a:t>Tres decisiones que importan</a:t>
            </a:r>
          </a:p>
        </p:txBody>
      </p:sp>
      <p:sp>
        <p:nvSpPr>
          <p:cNvPr id="105" name="TextBox 104"/>
          <p:cNvSpPr txBox="1"/>
          <p:nvPr/>
        </p:nvSpPr>
        <p:spPr>
          <a:xfrm>
            <a:off x="4709160" y="2011680"/>
            <a:ext cx="3931920" cy="2011680"/>
          </a:xfrm>
          <a:prstGeom prst="rect">
            <a:avLst/>
          </a:prstGeom>
          <a:noFill/>
        </p:spPr>
        <p:txBody>
          <a:bodyPr wrap="square" anchor="t" lIns="0" rIns="0" tIns="0" bIns="0">
            <a:spAutoFit/>
          </a:bodyPr>
          <a:lstStyle/>
          <a:p>
            <a:pPr algn="l"/>
            <a:r>
              <a:rPr sz="1100" b="0">
                <a:solidFill>
                  <a:srgbClr val="FFFFFF"/>
                </a:solidFill>
                <a:latin typeface="Arial"/>
              </a:rPr>
              <a:t>Clases generadas, no GenericRecord.</a:t>
            </a:r>
          </a:p>
          <a:p>
            <a:pPr algn="l"/>
            <a:r>
              <a:rPr sz="1100" b="0">
                <a:solidFill>
                  <a:srgbClr val="FFFFFF"/>
                </a:solidFill>
                <a:latin typeface="Arial"/>
              </a:rPr>
              <a:t>El contrato genera el código en el build:</a:t>
            </a:r>
          </a:p>
          <a:p>
            <a:pPr algn="l"/>
            <a:r>
              <a:rPr sz="1100" b="0">
                <a:solidFill>
                  <a:srgbClr val="FFFFFF"/>
                </a:solidFill>
                <a:latin typeface="Arial"/>
              </a:rPr>
              <a:t>si el .avsc deriva, el job NO compila.</a:t>
            </a:r>
          </a:p>
          <a:p>
            <a:pPr algn="l"/>
            <a:r>
              <a:rPr sz="1100" b="0">
                <a:solidFill>
                  <a:srgbClr val="FFFFFF"/>
                </a:solidFill>
                <a:latin typeface="Arial"/>
              </a:rPr>
              <a:t/>
            </a:r>
          </a:p>
          <a:p>
            <a:pPr algn="l"/>
            <a:r>
              <a:rPr sz="1100" b="0">
                <a:solidFill>
                  <a:srgbClr val="FFFFFF"/>
                </a:solidFill>
                <a:latin typeface="Arial"/>
              </a:rPr>
              <a:t>Event-time con watermarks, no processing</a:t>
            </a:r>
          </a:p>
          <a:p>
            <a:pPr algn="l"/>
            <a:r>
              <a:rPr sz="1100" b="0">
                <a:solidFill>
                  <a:srgbClr val="FFFFFF"/>
                </a:solidFill>
                <a:latin typeface="Arial"/>
              </a:rPr>
              <a:t>time → el revenue es reproducible (SC-001).</a:t>
            </a:r>
          </a:p>
          <a:p>
            <a:pPr algn="l"/>
            <a:r>
              <a:rPr sz="1100" b="0">
                <a:solidFill>
                  <a:srgbClr val="FFFFFF"/>
                </a:solidFill>
                <a:latin typeface="Arial"/>
              </a:rPr>
              <a:t/>
            </a:r>
          </a:p>
          <a:p>
            <a:pPr algn="l"/>
            <a:r>
              <a:rPr sz="1100" b="0">
                <a:solidFill>
                  <a:srgbClr val="FFFFFF"/>
                </a:solidFill>
                <a:latin typeface="Arial"/>
              </a:rPr>
              <a:t>Pipeline aislado de fuentes y sinks →</a:t>
            </a:r>
          </a:p>
          <a:p>
            <a:pPr algn="l"/>
            <a:r>
              <a:rPr sz="1100" b="0">
                <a:solidFill>
                  <a:srgbClr val="FFFFFF"/>
                </a:solidFill>
                <a:latin typeface="Arial"/>
              </a:rPr>
              <a:t>SC-001 se verifica sin levantar Docker.</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La demo: data-kcd2026</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Kafka → Flink → Kafka, con el contrato gobernado por la spec.</a:t>
            </a:r>
          </a:p>
        </p:txBody>
      </p:sp>
      <p:sp>
        <p:nvSpPr>
          <p:cNvPr id="93" name="Rounded Rectangle 92"/>
          <p:cNvSpPr/>
          <p:nvPr/>
        </p:nvSpPr>
        <p:spPr>
          <a:xfrm>
            <a:off x="502920" y="1600200"/>
            <a:ext cx="2743200" cy="1463040"/>
          </a:xfrm>
          <a:prstGeom prst="roundRect">
            <a:avLst>
              <a:gd name="adj" fmla="val 8000"/>
            </a:avLst>
          </a:prstGeom>
          <a:solidFill>
            <a:srgbClr val="E3EEFB"/>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4" name="TextBox 93"/>
          <p:cNvSpPr txBox="1"/>
          <p:nvPr/>
        </p:nvSpPr>
        <p:spPr>
          <a:xfrm>
            <a:off x="640080" y="1719072"/>
            <a:ext cx="2468880" cy="1234440"/>
          </a:xfrm>
          <a:prstGeom prst="rect">
            <a:avLst/>
          </a:prstGeom>
          <a:noFill/>
        </p:spPr>
        <p:txBody>
          <a:bodyPr wrap="square" anchor="t" lIns="0" rIns="0" tIns="0" bIns="0">
            <a:spAutoFit/>
          </a:bodyPr>
          <a:lstStyle/>
          <a:p>
            <a:pPr algn="l"/>
            <a:r>
              <a:rPr sz="1000" b="1">
                <a:solidFill>
                  <a:srgbClr val="262626"/>
                </a:solidFill>
                <a:latin typeface="Arial"/>
              </a:rPr>
              <a:t>Gobierno (SDD)</a:t>
            </a:r>
          </a:p>
          <a:p>
            <a:pPr algn="l"/>
            <a:r>
              <a:rPr sz="1000" b="0">
                <a:solidFill>
                  <a:srgbClr val="262626"/>
                </a:solidFill>
                <a:latin typeface="Arial"/>
              </a:rPr>
              <a:t/>
            </a:r>
          </a:p>
          <a:p>
            <a:pPr algn="l"/>
            <a:r>
              <a:rPr sz="1000" b="0">
                <a:solidFill>
                  <a:srgbClr val="262626"/>
                </a:solidFill>
                <a:latin typeface="Arial"/>
              </a:rPr>
              <a:t>order_event.avsc ← fuente</a:t>
            </a:r>
          </a:p>
          <a:p>
            <a:pPr algn="l"/>
            <a:r>
              <a:rPr sz="1000" b="0">
                <a:solidFill>
                  <a:srgbClr val="262626"/>
                </a:solidFill>
                <a:latin typeface="Arial"/>
              </a:rPr>
              <a:t>spec.md · FR-001..006 · SC-001..006</a:t>
            </a:r>
          </a:p>
          <a:p>
            <a:pPr algn="l"/>
            <a:r>
              <a:rPr sz="1000" b="0">
                <a:solidFill>
                  <a:srgbClr val="262626"/>
                </a:solidFill>
                <a:latin typeface="Arial"/>
              </a:rPr>
              <a:t>plan.md · Constitution Check (pin)</a:t>
            </a:r>
          </a:p>
          <a:p>
            <a:pPr algn="l"/>
            <a:r>
              <a:rPr sz="1000" b="0">
                <a:solidFill>
                  <a:srgbClr val="262626"/>
                </a:solidFill>
                <a:latin typeface="Arial"/>
              </a:rPr>
              <a:t>verification.md · matriz SC→evidencia</a:t>
            </a:r>
          </a:p>
          <a:p>
            <a:pPr algn="l"/>
            <a:r>
              <a:rPr sz="1000" b="0">
                <a:solidFill>
                  <a:srgbClr val="262626"/>
                </a:solidFill>
                <a:latin typeface="Arial"/>
              </a:rPr>
              <a:t>evidence/ · 7 capturas reales</a:t>
            </a:r>
          </a:p>
        </p:txBody>
      </p:sp>
      <p:sp>
        <p:nvSpPr>
          <p:cNvPr id="95" name="Rounded Rectangle 94"/>
          <p:cNvSpPr/>
          <p:nvPr/>
        </p:nvSpPr>
        <p:spPr>
          <a:xfrm>
            <a:off x="3566160" y="1874519"/>
            <a:ext cx="13716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Kafka</a:t>
            </a:r>
          </a:p>
          <a:p>
            <a:pPr algn="ctr"/>
            <a:r>
              <a:rPr sz="900" b="0">
                <a:solidFill>
                  <a:srgbClr val="262626"/>
                </a:solidFill>
                <a:latin typeface="Arial"/>
              </a:rPr>
              <a:t>orders-kcd2026</a:t>
            </a:r>
          </a:p>
        </p:txBody>
      </p:sp>
      <p:sp>
        <p:nvSpPr>
          <p:cNvPr id="96" name="Rounded Rectangle 95"/>
          <p:cNvSpPr/>
          <p:nvPr/>
        </p:nvSpPr>
        <p:spPr>
          <a:xfrm>
            <a:off x="5257800" y="1874519"/>
            <a:ext cx="137160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Flink</a:t>
            </a:r>
          </a:p>
          <a:p>
            <a:pPr algn="ctr"/>
            <a:r>
              <a:rPr sz="900" b="0">
                <a:solidFill>
                  <a:srgbClr val="262626"/>
                </a:solidFill>
                <a:latin typeface="Arial"/>
              </a:rPr>
              <a:t>ventana 60s event-time</a:t>
            </a:r>
          </a:p>
        </p:txBody>
      </p:sp>
      <p:sp>
        <p:nvSpPr>
          <p:cNvPr id="97" name="Rounded Rectangle 96"/>
          <p:cNvSpPr/>
          <p:nvPr/>
        </p:nvSpPr>
        <p:spPr>
          <a:xfrm>
            <a:off x="6903720" y="1874519"/>
            <a:ext cx="1783080" cy="685800"/>
          </a:xfrm>
          <a:prstGeom prst="roundRect">
            <a:avLst>
              <a:gd name="adj" fmla="val 8000"/>
            </a:avLst>
          </a:prstGeom>
          <a:solidFill>
            <a:srgbClr val="FFFFFF"/>
          </a:solidFill>
          <a:ln w="15875">
            <a:solidFill>
              <a:srgbClr val="0F87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62626"/>
                </a:solidFill>
                <a:latin typeface="Arial"/>
              </a:rPr>
              <a:t>Kafka</a:t>
            </a:r>
          </a:p>
          <a:p>
            <a:pPr algn="ctr"/>
            <a:r>
              <a:rPr sz="900" b="0">
                <a:solidFill>
                  <a:srgbClr val="262626"/>
                </a:solidFill>
                <a:latin typeface="Arial"/>
              </a:rPr>
              <a:t>revenue-por-cliente-ventana</a:t>
            </a:r>
          </a:p>
        </p:txBody>
      </p:sp>
      <p:cxnSp>
        <p:nvCxnSpPr>
          <p:cNvPr id="98" name="Connector 97"/>
          <p:cNvCxnSpPr/>
          <p:nvPr/>
        </p:nvCxnSpPr>
        <p:spPr>
          <a:xfrm>
            <a:off x="4937760" y="2212848"/>
            <a:ext cx="320040" cy="0"/>
          </a:xfrm>
          <a:prstGeom prst="line">
            <a:avLst/>
          </a:prstGeom>
          <a:ln w="22225">
            <a:solidFill>
              <a:srgbClr val="0F87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629400" y="2212848"/>
            <a:ext cx="274320" cy="0"/>
          </a:xfrm>
          <a:prstGeom prst="line">
            <a:avLst/>
          </a:prstGeom>
          <a:ln w="22225">
            <a:solidFill>
              <a:srgbClr val="0F87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Rounded Rectangle 99"/>
          <p:cNvSpPr/>
          <p:nvPr/>
        </p:nvSpPr>
        <p:spPr>
          <a:xfrm>
            <a:off x="502920" y="3291840"/>
            <a:ext cx="2743200" cy="548640"/>
          </a:xfrm>
          <a:prstGeom prst="roundRect">
            <a:avLst>
              <a:gd name="adj" fmla="val 8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Arial"/>
              </a:rPr>
              <a:t>spec_kit_gate.py</a:t>
            </a:r>
          </a:p>
          <a:p>
            <a:pPr algn="ctr"/>
            <a:r>
              <a:rPr sz="900" b="0">
                <a:solidFill>
                  <a:srgbClr val="FFFFFF"/>
                </a:solidFill>
                <a:latin typeface="Arial"/>
              </a:rPr>
              <a:t>consumer-release · 43/43 · fail-closed</a:t>
            </a:r>
          </a:p>
        </p:txBody>
      </p:sp>
      <p:cxnSp>
        <p:nvCxnSpPr>
          <p:cNvPr id="101" name="Connector 100"/>
          <p:cNvCxnSpPr/>
          <p:nvPr/>
        </p:nvCxnSpPr>
        <p:spPr>
          <a:xfrm>
            <a:off x="1874519" y="3063240"/>
            <a:ext cx="0" cy="228600"/>
          </a:xfrm>
          <a:prstGeom prst="line">
            <a:avLst/>
          </a:prstGeom>
          <a:ln w="22225">
            <a:solidFill>
              <a:srgbClr val="0F87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3566160" y="3291840"/>
            <a:ext cx="5029200" cy="548640"/>
          </a:xfrm>
          <a:prstGeom prst="roundRect">
            <a:avLst>
              <a:gd name="adj" fmla="val 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62626"/>
                </a:solidFill>
                <a:latin typeface="Arial"/>
              </a:rPr>
              <a:t>order_event.avsc — el contrato que COMPILA Flink</a:t>
            </a:r>
          </a:p>
          <a:p>
            <a:pPr algn="ctr"/>
            <a:r>
              <a:rPr sz="900" b="0">
                <a:solidFill>
                  <a:srgbClr val="262626"/>
                </a:solidFill>
                <a:latin typeface="Arial"/>
              </a:rPr>
              <a:t>genera las clases en el build; deriva = BUILD FAILURE</a:t>
            </a:r>
          </a:p>
        </p:txBody>
      </p:sp>
      <p:cxnSp>
        <p:nvCxnSpPr>
          <p:cNvPr id="103" name="Connector 102"/>
          <p:cNvCxnSpPr/>
          <p:nvPr/>
        </p:nvCxnSpPr>
        <p:spPr>
          <a:xfrm>
            <a:off x="3246120" y="3566160"/>
            <a:ext cx="320040" cy="0"/>
          </a:xfrm>
          <a:prstGeom prst="line">
            <a:avLst/>
          </a:prstGeom>
          <a:ln w="22225">
            <a:solidFill>
              <a:srgbClr val="1E7A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943600" y="2560320"/>
            <a:ext cx="0" cy="73152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1325880" y="4069080"/>
            <a:ext cx="7315200" cy="320040"/>
          </a:xfrm>
          <a:prstGeom prst="rect">
            <a:avLst/>
          </a:prstGeom>
          <a:noFill/>
        </p:spPr>
        <p:txBody>
          <a:bodyPr wrap="square" anchor="t" lIns="0" rIns="0" tIns="0" bIns="0">
            <a:spAutoFit/>
          </a:bodyPr>
          <a:lstStyle/>
          <a:p>
            <a:pPr algn="l"/>
            <a:r>
              <a:rPr sz="1100" b="0">
                <a:solidFill>
                  <a:srgbClr val="5A5A5A"/>
                </a:solidFill>
                <a:latin typeface="Arial"/>
              </a:rPr>
              <a:t>Compose real: broker · schema-registry · flink-jobmanager · flink-taskmanager</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chemeClr val="dk1"/>
                </a:solidFill>
                <a:latin typeface="Arial"/>
                <a:ea typeface="Google Sans"/>
                <a:cs typeface="Google Sans"/>
                <a:sym typeface="Google Sans"/>
              </a:rPr>
              <a:t>Una fuente, tres vistas</a:t>
            </a:r>
            <a:endParaRPr b="1" sz="3000">
              <a:solidFill>
                <a:schemeClr val="dk1"/>
              </a:solidFill>
              <a:latin typeface="Google Sans"/>
              <a:ea typeface="Google Sans"/>
              <a:cs typeface="Google Sans"/>
              <a:sym typeface="Google Sans"/>
            </a:endParaRP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594360" y="1554480"/>
            <a:ext cx="7863840" cy="502920"/>
          </a:xfrm>
          <a:prstGeom prst="rect">
            <a:avLst/>
          </a:prstGeom>
          <a:noFill/>
        </p:spPr>
        <p:txBody>
          <a:bodyPr wrap="square" anchor="t" lIns="0" rIns="0" tIns="0" bIns="0">
            <a:spAutoFit/>
          </a:bodyPr>
          <a:lstStyle/>
          <a:p>
            <a:pPr algn="l"/>
            <a:r>
              <a:rPr sz="1300" b="0">
                <a:solidFill>
                  <a:srgbClr val="262626"/>
                </a:solidFill>
                <a:latin typeface="Arial"/>
              </a:rPr>
              <a:t>El contrato no es un archivo más:</a:t>
            </a:r>
          </a:p>
          <a:p>
            <a:pPr algn="l"/>
            <a:r>
              <a:rPr sz="1300" b="0">
                <a:solidFill>
                  <a:srgbClr val="262626"/>
                </a:solidFill>
                <a:latin typeface="Arial"/>
              </a:rPr>
              <a:t>es la fuente que genera el código.</a:t>
            </a:r>
          </a:p>
        </p:txBody>
      </p:sp>
      <p:sp>
        <p:nvSpPr>
          <p:cNvPr id="105" name="Rectangle 104"/>
          <p:cNvSpPr/>
          <p:nvPr/>
        </p:nvSpPr>
        <p:spPr>
          <a:xfrm>
            <a:off x="594360" y="2148840"/>
            <a:ext cx="3813048" cy="1383030"/>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6" name="Rectangle 105"/>
          <p:cNvSpPr/>
          <p:nvPr/>
        </p:nvSpPr>
        <p:spPr>
          <a:xfrm>
            <a:off x="594360" y="2148840"/>
            <a:ext cx="3813048"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7" name="TextBox 106"/>
          <p:cNvSpPr txBox="1"/>
          <p:nvPr/>
        </p:nvSpPr>
        <p:spPr>
          <a:xfrm>
            <a:off x="704088" y="2171700"/>
            <a:ext cx="3593591" cy="182880"/>
          </a:xfrm>
          <a:prstGeom prst="rect">
            <a:avLst/>
          </a:prstGeom>
          <a:noFill/>
        </p:spPr>
        <p:txBody>
          <a:bodyPr wrap="none" lIns="0" rIns="0" tIns="0" bIns="0">
            <a:spAutoFit/>
          </a:bodyPr>
          <a:lstStyle/>
          <a:p>
            <a:r>
              <a:rPr sz="900">
                <a:solidFill>
                  <a:srgbClr val="A0A0A8"/>
                </a:solidFill>
                <a:latin typeface="Courier New"/>
              </a:rPr>
              <a:t>order_event.avsc</a:t>
            </a:r>
          </a:p>
        </p:txBody>
      </p:sp>
      <p:sp>
        <p:nvSpPr>
          <p:cNvPr id="108" name="TextBox 107"/>
          <p:cNvSpPr txBox="1"/>
          <p:nvPr/>
        </p:nvSpPr>
        <p:spPr>
          <a:xfrm>
            <a:off x="704088" y="2487168"/>
            <a:ext cx="3593591" cy="925830"/>
          </a:xfrm>
          <a:prstGeom prst="rect">
            <a:avLst/>
          </a:prstGeom>
          <a:noFill/>
        </p:spPr>
        <p:txBody>
          <a:bodyPr wrap="none" lIns="0" rIns="0" tIns="0" bIns="0">
            <a:spAutoFit/>
          </a:bodyPr>
          <a:lstStyle/>
          <a:p>
            <a:pPr>
              <a:lnSpc>
                <a:spcPts val="1215"/>
              </a:lnSpc>
            </a:pPr>
            <a:r>
              <a:rPr sz="900">
                <a:solidFill>
                  <a:srgbClr val="D8D8DC"/>
                </a:solidFill>
                <a:latin typeface="Courier New"/>
              </a:rPr>
              <a:t># order_event.avsc  ← la fuente</a:t>
            </a:r>
          </a:p>
          <a:p>
            <a:pPr>
              <a:lnSpc>
                <a:spcPts val="1215"/>
              </a:lnSpc>
            </a:pPr>
            <a:r>
              <a:rPr sz="900">
                <a:solidFill>
                  <a:srgbClr val="D8D8DC"/>
                </a:solidFill>
                <a:latin typeface="Courier New"/>
              </a:rPr>
              <a:t>"fields": [</a:t>
            </a:r>
          </a:p>
          <a:p>
            <a:pPr>
              <a:lnSpc>
                <a:spcPts val="1215"/>
              </a:lnSpc>
            </a:pPr>
            <a:r>
              <a:rPr sz="900">
                <a:solidFill>
                  <a:srgbClr val="D8D8DC"/>
                </a:solidFill>
                <a:latin typeface="Courier New"/>
              </a:rPr>
              <a:t>  {"name": "customerId",</a:t>
            </a:r>
          </a:p>
          <a:p>
            <a:pPr>
              <a:lnSpc>
                <a:spcPts val="1215"/>
              </a:lnSpc>
            </a:pPr>
            <a:r>
              <a:rPr sz="900">
                <a:solidFill>
                  <a:srgbClr val="D8D8DC"/>
                </a:solidFill>
                <a:latin typeface="Courier New"/>
              </a:rPr>
              <a:t>   "type": "long"},</a:t>
            </a:r>
          </a:p>
          <a:p>
            <a:pPr>
              <a:lnSpc>
                <a:spcPts val="1215"/>
              </a:lnSpc>
            </a:pPr>
            <a:r>
              <a:rPr sz="900">
                <a:solidFill>
                  <a:srgbClr val="D8D8DC"/>
                </a:solidFill>
                <a:latin typeface="Courier New"/>
              </a:rPr>
              <a:t>  {"name": "totalPrice",</a:t>
            </a:r>
          </a:p>
          <a:p>
            <a:pPr>
              <a:lnSpc>
                <a:spcPts val="1215"/>
              </a:lnSpc>
            </a:pPr>
            <a:r>
              <a:rPr sz="900">
                <a:solidFill>
                  <a:srgbClr val="D8D8DC"/>
                </a:solidFill>
                <a:latin typeface="Courier New"/>
              </a:rPr>
              <a:t>   "type": "double"},</a:t>
            </a:r>
          </a:p>
        </p:txBody>
      </p:sp>
      <p:sp>
        <p:nvSpPr>
          <p:cNvPr id="109" name="Rectangle 108"/>
          <p:cNvSpPr/>
          <p:nvPr/>
        </p:nvSpPr>
        <p:spPr>
          <a:xfrm>
            <a:off x="4709160" y="2148840"/>
            <a:ext cx="3977639" cy="1383030"/>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10" name="Rectangle 109"/>
          <p:cNvSpPr/>
          <p:nvPr/>
        </p:nvSpPr>
        <p:spPr>
          <a:xfrm>
            <a:off x="4709160" y="2148840"/>
            <a:ext cx="3977639"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11" name="TextBox 110"/>
          <p:cNvSpPr txBox="1"/>
          <p:nvPr/>
        </p:nvSpPr>
        <p:spPr>
          <a:xfrm>
            <a:off x="4818888" y="2171700"/>
            <a:ext cx="3758183" cy="182880"/>
          </a:xfrm>
          <a:prstGeom prst="rect">
            <a:avLst/>
          </a:prstGeom>
          <a:noFill/>
        </p:spPr>
        <p:txBody>
          <a:bodyPr wrap="none" lIns="0" rIns="0" tIns="0" bIns="0">
            <a:spAutoFit/>
          </a:bodyPr>
          <a:lstStyle/>
          <a:p>
            <a:r>
              <a:rPr sz="900">
                <a:solidFill>
                  <a:srgbClr val="A0A0A8"/>
                </a:solidFill>
                <a:latin typeface="Courier New"/>
              </a:rPr>
              <a:t>OrderEvent.java (generada)</a:t>
            </a:r>
          </a:p>
        </p:txBody>
      </p:sp>
      <p:sp>
        <p:nvSpPr>
          <p:cNvPr id="112" name="TextBox 111"/>
          <p:cNvSpPr txBox="1"/>
          <p:nvPr/>
        </p:nvSpPr>
        <p:spPr>
          <a:xfrm>
            <a:off x="4818888" y="2487168"/>
            <a:ext cx="3758183" cy="925830"/>
          </a:xfrm>
          <a:prstGeom prst="rect">
            <a:avLst/>
          </a:prstGeom>
          <a:noFill/>
        </p:spPr>
        <p:txBody>
          <a:bodyPr wrap="none" lIns="0" rIns="0" tIns="0" bIns="0">
            <a:spAutoFit/>
          </a:bodyPr>
          <a:lstStyle/>
          <a:p>
            <a:pPr>
              <a:lnSpc>
                <a:spcPts val="1215"/>
              </a:lnSpc>
            </a:pPr>
            <a:r>
              <a:rPr sz="900">
                <a:solidFill>
                  <a:srgbClr val="D8D8DC"/>
                </a:solidFill>
                <a:latin typeface="Courier New"/>
              </a:rPr>
              <a:t># target/generated-sources/avro</a:t>
            </a:r>
          </a:p>
          <a:p>
            <a:pPr>
              <a:lnSpc>
                <a:spcPts val="1215"/>
              </a:lnSpc>
            </a:pPr>
            <a:r>
              <a:rPr sz="900">
                <a:solidFill>
                  <a:srgbClr val="D8D8DC"/>
                </a:solidFill>
                <a:latin typeface="Courier New"/>
              </a:rPr>
              <a:t>public long getCustomerId()</a:t>
            </a:r>
          </a:p>
          <a:p>
            <a:pPr>
              <a:lnSpc>
                <a:spcPts val="1215"/>
              </a:lnSpc>
            </a:pPr>
            <a:r>
              <a:rPr sz="900">
                <a:solidFill>
                  <a:srgbClr val="D8D8DC"/>
                </a:solidFill>
                <a:latin typeface="Courier New"/>
              </a:rPr>
              <a:t>public double getTotalPrice()</a:t>
            </a:r>
          </a:p>
          <a:p>
            <a:pPr>
              <a:lnSpc>
                <a:spcPts val="1215"/>
              </a:lnSpc>
            </a:pPr>
            <a:r>
              <a:rPr sz="900">
                <a:solidFill>
                  <a:srgbClr val="D8D8DC"/>
                </a:solidFill>
                <a:latin typeface="Courier New"/>
              </a:rPr>
              <a:t>public long getOrderTs()</a:t>
            </a:r>
          </a:p>
          <a:p>
            <a:pPr>
              <a:lnSpc>
                <a:spcPts val="1215"/>
              </a:lnSpc>
            </a:pPr>
            <a:r>
              <a:rPr sz="900">
                <a:solidFill>
                  <a:srgbClr val="D8D8DC"/>
                </a:solidFill>
                <a:latin typeface="Courier New"/>
              </a:rPr>
              <a:t>// derivada, no editada a mano</a:t>
            </a:r>
          </a:p>
        </p:txBody>
      </p:sp>
      <p:sp>
        <p:nvSpPr>
          <p:cNvPr id="113" name="TextBox 112"/>
          <p:cNvSpPr txBox="1"/>
          <p:nvPr/>
        </p:nvSpPr>
        <p:spPr>
          <a:xfrm>
            <a:off x="594360" y="3840480"/>
            <a:ext cx="7900416" cy="685800"/>
          </a:xfrm>
          <a:prstGeom prst="rect">
            <a:avLst/>
          </a:prstGeom>
          <a:noFill/>
        </p:spPr>
        <p:txBody>
          <a:bodyPr wrap="square" anchor="t" lIns="0" rIns="0" tIns="0" bIns="0">
            <a:spAutoFit/>
          </a:bodyPr>
          <a:lstStyle/>
          <a:p>
            <a:pPr algn="l"/>
            <a:r>
              <a:rPr sz="1100" b="0">
                <a:solidFill>
                  <a:srgbClr val="FFFFFF"/>
                </a:solidFill>
                <a:latin typeface="Arial"/>
              </a:rPr>
              <a:t>Y una tercera vista: el esquema registrado en el Schema Registry (orders-kcd2026-value).</a:t>
            </a:r>
          </a:p>
          <a:p>
            <a:pPr algn="l"/>
            <a:r>
              <a:rPr sz="1100" b="0">
                <a:solidFill>
                  <a:srgbClr val="FFFFFF"/>
                </a:solidFill>
                <a:latin typeface="Arial"/>
              </a:rPr>
              <a:t>El job usa SOLO los accesores generados. Si el esquema renombra un campo, la clase</a:t>
            </a:r>
          </a:p>
          <a:p>
            <a:pPr algn="l"/>
            <a:r>
              <a:rPr sz="1100" b="0">
                <a:solidFill>
                  <a:srgbClr val="FFFFFF"/>
                </a:solidFill>
                <a:latin typeface="Arial"/>
              </a:rPr>
              <a:t>cambia en el build y el código que usaba el accesor viejo deja de compilar.</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El canary, en 30 segundos</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Log real. Un productor renombra un campo del contrato… y el build lo delata en 4 segundos.</a:t>
            </a:r>
          </a:p>
        </p:txBody>
      </p:sp>
      <p:sp>
        <p:nvSpPr>
          <p:cNvPr id="93" name="Rectangle 92"/>
          <p:cNvSpPr/>
          <p:nvPr/>
        </p:nvSpPr>
        <p:spPr>
          <a:xfrm>
            <a:off x="502920" y="1426464"/>
            <a:ext cx="8138160" cy="2411730"/>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4" name="Rectangle 93"/>
          <p:cNvSpPr/>
          <p:nvPr/>
        </p:nvSpPr>
        <p:spPr>
          <a:xfrm>
            <a:off x="502920" y="1426464"/>
            <a:ext cx="8138160"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5" name="TextBox 94"/>
          <p:cNvSpPr txBox="1"/>
          <p:nvPr/>
        </p:nvSpPr>
        <p:spPr>
          <a:xfrm>
            <a:off x="612648" y="1449324"/>
            <a:ext cx="7918704" cy="182880"/>
          </a:xfrm>
          <a:prstGeom prst="rect">
            <a:avLst/>
          </a:prstGeom>
          <a:noFill/>
        </p:spPr>
        <p:txBody>
          <a:bodyPr wrap="none" lIns="0" rIns="0" tIns="0" bIns="0">
            <a:spAutoFit/>
          </a:bodyPr>
          <a:lstStyle/>
          <a:p>
            <a:r>
              <a:rPr sz="900">
                <a:solidFill>
                  <a:srgbClr val="A0A0A8"/>
                </a:solidFill>
                <a:latin typeface="Courier New"/>
              </a:rPr>
              <a:t>./canary-deriva.sh</a:t>
            </a:r>
          </a:p>
        </p:txBody>
      </p:sp>
      <p:sp>
        <p:nvSpPr>
          <p:cNvPr id="96" name="TextBox 95"/>
          <p:cNvSpPr txBox="1"/>
          <p:nvPr/>
        </p:nvSpPr>
        <p:spPr>
          <a:xfrm>
            <a:off x="612648" y="1764792"/>
            <a:ext cx="7918704" cy="1954530"/>
          </a:xfrm>
          <a:prstGeom prst="rect">
            <a:avLst/>
          </a:prstGeom>
          <a:noFill/>
        </p:spPr>
        <p:txBody>
          <a:bodyPr wrap="none" lIns="0" rIns="0" tIns="0" bIns="0">
            <a:spAutoFit/>
          </a:bodyPr>
          <a:lstStyle/>
          <a:p>
            <a:pPr>
              <a:lnSpc>
                <a:spcPts val="1282"/>
              </a:lnSpc>
            </a:pPr>
            <a:r>
              <a:rPr sz="950">
                <a:solidFill>
                  <a:srgbClr val="7AD17A"/>
                </a:solidFill>
                <a:latin typeface="Courier New"/>
              </a:rPr>
              <a:t>$ ./canary-deriva.sh</a:t>
            </a:r>
          </a:p>
          <a:p>
            <a:pPr>
              <a:lnSpc>
                <a:spcPts val="1282"/>
              </a:lnSpc>
            </a:pPr>
            <a:r>
              <a:rPr sz="950">
                <a:solidFill>
                  <a:srgbClr val="7AD17A"/>
                </a:solidFill>
                <a:latin typeface="Courier New"/>
              </a:rPr>
              <a:t>1 · Contrato integro — compila: BUILD SUCCESS</a:t>
            </a:r>
          </a:p>
          <a:p>
            <a:pPr>
              <a:lnSpc>
                <a:spcPts val="1282"/>
              </a:lnSpc>
            </a:pPr>
            <a:r>
              <a:rPr sz="950">
                <a:solidFill>
                  <a:srgbClr val="D8D8DC"/>
                </a:solidFill>
                <a:latin typeface="Courier New"/>
              </a:rPr>
              <a:t>2 · Se introduce la deriva: totalPrice → totalPriceAmount</a:t>
            </a:r>
          </a:p>
          <a:p>
            <a:pPr>
              <a:lnSpc>
                <a:spcPts val="1282"/>
              </a:lnSpc>
            </a:pPr>
            <a:r>
              <a:rPr sz="950">
                <a:solidFill>
                  <a:srgbClr val="D8D8DC"/>
                </a:solidFill>
                <a:latin typeface="Courier New"/>
              </a:rPr>
              <a:t/>
            </a:r>
          </a:p>
          <a:p>
            <a:pPr>
              <a:lnSpc>
                <a:spcPts val="1282"/>
              </a:lnSpc>
            </a:pPr>
            <a:r>
              <a:rPr sz="950">
                <a:solidFill>
                  <a:srgbClr val="7AD17A"/>
                </a:solidFill>
                <a:latin typeface="Courier New"/>
              </a:rPr>
              <a:t>3 · Se compila con el contrato derivado…</a:t>
            </a:r>
          </a:p>
          <a:p>
            <a:pPr>
              <a:lnSpc>
                <a:spcPts val="1282"/>
              </a:lnSpc>
            </a:pPr>
            <a:r>
              <a:rPr sz="950">
                <a:solidFill>
                  <a:srgbClr val="7AD17A"/>
                </a:solidFill>
                <a:latin typeface="Courier New"/>
              </a:rPr>
              <a:t/>
            </a:r>
          </a:p>
          <a:p>
            <a:pPr>
              <a:lnSpc>
                <a:spcPts val="1282"/>
              </a:lnSpc>
            </a:pPr>
            <a:r>
              <a:rPr sz="950" b="1">
                <a:solidFill>
                  <a:srgbClr val="FF6B6B"/>
                </a:solidFill>
                <a:latin typeface="Courier New"/>
              </a:rPr>
              <a:t>[ERROR] RevenueAggregateFunction.java:[32,54] cannot find symbol</a:t>
            </a:r>
          </a:p>
          <a:p>
            <a:pPr>
              <a:lnSpc>
                <a:spcPts val="1282"/>
              </a:lnSpc>
            </a:pPr>
            <a:r>
              <a:rPr sz="950" b="1">
                <a:solidFill>
                  <a:srgbClr val="FF6B6B"/>
                </a:solidFill>
                <a:latin typeface="Courier New"/>
              </a:rPr>
              <a:t>  symbol: method getTotalPrice() · location: variable order (OrderEvent)</a:t>
            </a:r>
          </a:p>
          <a:p>
            <a:pPr>
              <a:lnSpc>
                <a:spcPts val="1282"/>
              </a:lnSpc>
            </a:pPr>
            <a:r>
              <a:rPr sz="950" b="1">
                <a:solidFill>
                  <a:srgbClr val="FF6B6B"/>
                </a:solidFill>
                <a:latin typeface="Courier New"/>
              </a:rPr>
              <a:t>  la compilacion FALLA — ningun artefacto ejecutable; el job no llega a arrancar</a:t>
            </a:r>
          </a:p>
          <a:p>
            <a:pPr>
              <a:lnSpc>
                <a:spcPts val="1282"/>
              </a:lnSpc>
            </a:pPr>
            <a:r>
              <a:rPr sz="950">
                <a:solidFill>
                  <a:srgbClr val="D8D8DC"/>
                </a:solidFill>
                <a:latin typeface="Courier New"/>
              </a:rPr>
              <a:t/>
            </a:r>
          </a:p>
          <a:p>
            <a:pPr>
              <a:lnSpc>
                <a:spcPts val="1282"/>
              </a:lnSpc>
            </a:pPr>
            <a:r>
              <a:rPr sz="950">
                <a:solidFill>
                  <a:srgbClr val="D8D8DC"/>
                </a:solidFill>
                <a:latin typeface="Courier New"/>
              </a:rPr>
              <a:t>4 · Se restaura el contrato — compila de nuevo. Canary completo en 4s (umbral SC-004: 30s);</a:t>
            </a:r>
          </a:p>
          <a:p>
            <a:pPr>
              <a:lnSpc>
                <a:spcPts val="1282"/>
              </a:lnSpc>
            </a:pPr>
            <a:r>
              <a:rPr sz="950">
                <a:solidFill>
                  <a:srgbClr val="D8D8DC"/>
                </a:solidFill>
                <a:latin typeface="Courier New"/>
              </a:rPr>
              <a:t>variante por cambio de tipo: incompatible types String→double, 5s. Reversible por trap.</a:t>
            </a:r>
          </a:p>
        </p:txBody>
      </p:sp>
      <p:sp>
        <p:nvSpPr>
          <p:cNvPr id="97" name="TextBox 96"/>
          <p:cNvSpPr txBox="1"/>
          <p:nvPr/>
        </p:nvSpPr>
        <p:spPr>
          <a:xfrm>
            <a:off x="1325880" y="4096512"/>
            <a:ext cx="5120640" cy="320040"/>
          </a:xfrm>
          <a:prstGeom prst="rect">
            <a:avLst/>
          </a:prstGeom>
          <a:noFill/>
        </p:spPr>
        <p:txBody>
          <a:bodyPr wrap="square" anchor="t" lIns="0" rIns="0" tIns="0" bIns="0">
            <a:spAutoFit/>
          </a:bodyPr>
          <a:lstStyle/>
          <a:p>
            <a:pPr algn="l"/>
            <a:r>
              <a:rPr sz="1400" b="1">
                <a:solidFill>
                  <a:srgbClr val="262626"/>
                </a:solidFill>
                <a:latin typeface="Arial"/>
              </a:rPr>
              <a:t>Quien falla es javac, no un validador nuestro. Nombra el símbolo desaparecido.</a:t>
            </a:r>
          </a:p>
        </p:txBody>
      </p:sp>
      <p:sp>
        <p:nvSpPr>
          <p:cNvPr id="98" name="Rounded Rectangle 97"/>
          <p:cNvSpPr/>
          <p:nvPr/>
        </p:nvSpPr>
        <p:spPr>
          <a:xfrm>
            <a:off x="6720840" y="4032504"/>
            <a:ext cx="1234440" cy="310896"/>
          </a:xfrm>
          <a:prstGeom prst="roundRect">
            <a:avLst>
              <a:gd name="adj" fmla="val 8000"/>
            </a:avLst>
          </a:prstGeom>
          <a:solidFill>
            <a:srgbClr val="C0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Arial"/>
              </a:rPr>
              <a:t>FAIL → exit 1</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chemeClr val="dk1"/>
                </a:solidFill>
                <a:latin typeface="Arial"/>
                <a:ea typeface="Google Sans"/>
                <a:cs typeface="Google Sans"/>
                <a:sym typeface="Google Sans"/>
              </a:rPr>
              <a:t>Lo que solo se ve al correrlo</a:t>
            </a:r>
            <a:endParaRPr b="1" sz="3000">
              <a:solidFill>
                <a:schemeClr val="dk1"/>
              </a:solidFill>
              <a:latin typeface="Google Sans"/>
              <a:ea typeface="Google Sans"/>
              <a:cs typeface="Google Sans"/>
              <a:sym typeface="Google Sans"/>
            </a:endParaRP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594360" y="1691640"/>
            <a:ext cx="7900416" cy="274320"/>
          </a:xfrm>
          <a:prstGeom prst="rect">
            <a:avLst/>
          </a:prstGeom>
          <a:noFill/>
        </p:spPr>
        <p:txBody>
          <a:bodyPr wrap="square" anchor="t" lIns="0" rIns="0" tIns="0" bIns="0">
            <a:spAutoFit/>
          </a:bodyPr>
          <a:lstStyle/>
          <a:p>
            <a:pPr algn="l"/>
            <a:r>
              <a:rPr sz="1300" b="1">
                <a:solidFill>
                  <a:srgbClr val="262626"/>
                </a:solidFill>
                <a:latin typeface="Arial"/>
              </a:rPr>
              <a:t>Compilaba. El gate 42/42. Y aun así, tres descubrimientos que ningún slide teórico regala.</a:t>
            </a:r>
          </a:p>
        </p:txBody>
      </p:sp>
      <p:sp>
        <p:nvSpPr>
          <p:cNvPr id="105" name="Rectangle 104"/>
          <p:cNvSpPr/>
          <p:nvPr/>
        </p:nvSpPr>
        <p:spPr>
          <a:xfrm>
            <a:off x="594360" y="2194560"/>
            <a:ext cx="91440" cy="475488"/>
          </a:xfrm>
          <a:prstGeom prst="rect">
            <a:avLst/>
          </a:prstGeom>
          <a:solidFill>
            <a:srgbClr val="C0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6" name="TextBox 105"/>
          <p:cNvSpPr txBox="1"/>
          <p:nvPr/>
        </p:nvSpPr>
        <p:spPr>
          <a:xfrm>
            <a:off x="822960" y="2212848"/>
            <a:ext cx="7680960" cy="457200"/>
          </a:xfrm>
          <a:prstGeom prst="rect">
            <a:avLst/>
          </a:prstGeom>
          <a:noFill/>
        </p:spPr>
        <p:txBody>
          <a:bodyPr wrap="square" anchor="t" lIns="0" rIns="0" tIns="0" bIns="0">
            <a:spAutoFit/>
          </a:bodyPr>
          <a:lstStyle/>
          <a:p>
            <a:pPr algn="l"/>
            <a:r>
              <a:rPr sz="1200" b="1">
                <a:solidFill>
                  <a:srgbClr val="262626"/>
                </a:solidFill>
                <a:latin typeface="Arial"/>
              </a:rPr>
              <a:t>Las ventanas no cierran solas</a:t>
            </a:r>
          </a:p>
          <a:p>
            <a:pPr algn="l"/>
            <a:r>
              <a:rPr sz="1200" b="0">
                <a:solidFill>
                  <a:srgbClr val="262626"/>
                </a:solidFill>
                <a:latin typeface="Arial"/>
              </a:rPr>
              <a:t>con Kafka no acotado manda el watermark: hicieron falta 2 eventos de avance</a:t>
            </a:r>
          </a:p>
        </p:txBody>
      </p:sp>
      <p:sp>
        <p:nvSpPr>
          <p:cNvPr id="107" name="Rectangle 106"/>
          <p:cNvSpPr/>
          <p:nvPr/>
        </p:nvSpPr>
        <p:spPr>
          <a:xfrm>
            <a:off x="594360" y="2834640"/>
            <a:ext cx="91440" cy="475488"/>
          </a:xfrm>
          <a:prstGeom prst="rect">
            <a:avLst/>
          </a:prstGeom>
          <a:solidFill>
            <a:srgbClr val="C0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8" name="TextBox 107"/>
          <p:cNvSpPr txBox="1"/>
          <p:nvPr/>
        </p:nvSpPr>
        <p:spPr>
          <a:xfrm>
            <a:off x="822960" y="2852928"/>
            <a:ext cx="7680960" cy="457200"/>
          </a:xfrm>
          <a:prstGeom prst="rect">
            <a:avLst/>
          </a:prstGeom>
          <a:noFill/>
        </p:spPr>
        <p:txBody>
          <a:bodyPr wrap="square" anchor="t" lIns="0" rIns="0" tIns="0" bIns="0">
            <a:spAutoFit/>
          </a:bodyPr>
          <a:lstStyle/>
          <a:p>
            <a:pPr algn="l"/>
            <a:r>
              <a:rPr sz="1200" b="1">
                <a:solidFill>
                  <a:srgbClr val="262626"/>
                </a:solidFill>
                <a:latin typeface="Arial"/>
              </a:rPr>
              <a:t>DeliveryGuarantee no estaba en el classpath</a:t>
            </a:r>
          </a:p>
          <a:p>
            <a:pPr algn="l"/>
            <a:r>
              <a:rPr sz="1200" b="0">
                <a:solidFill>
                  <a:srgbClr val="262626"/>
                </a:solidFill>
                <a:latin typeface="Arial"/>
              </a:rPr>
              <a:t>vive en flink-connector-base; el conector de Kafka no lo arrastra</a:t>
            </a:r>
          </a:p>
        </p:txBody>
      </p:sp>
      <p:sp>
        <p:nvSpPr>
          <p:cNvPr id="109" name="Rectangle 108"/>
          <p:cNvSpPr/>
          <p:nvPr/>
        </p:nvSpPr>
        <p:spPr>
          <a:xfrm>
            <a:off x="594360" y="3474720"/>
            <a:ext cx="91440" cy="475488"/>
          </a:xfrm>
          <a:prstGeom prst="rect">
            <a:avLst/>
          </a:prstGeom>
          <a:solidFill>
            <a:srgbClr val="C0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10" name="TextBox 109"/>
          <p:cNvSpPr txBox="1"/>
          <p:nvPr/>
        </p:nvSpPr>
        <p:spPr>
          <a:xfrm>
            <a:off x="822960" y="3493008"/>
            <a:ext cx="7680960" cy="457200"/>
          </a:xfrm>
          <a:prstGeom prst="rect">
            <a:avLst/>
          </a:prstGeom>
          <a:noFill/>
        </p:spPr>
        <p:txBody>
          <a:bodyPr wrap="square" anchor="t" lIns="0" rIns="0" tIns="0" bIns="0">
            <a:spAutoFit/>
          </a:bodyPr>
          <a:lstStyle/>
          <a:p>
            <a:pPr algn="l"/>
            <a:r>
              <a:rPr sz="1200" b="1">
                <a:solidFill>
                  <a:srgbClr val="262626"/>
                </a:solidFill>
                <a:latin typeface="Arial"/>
              </a:rPr>
              <a:t>El gate, roto a propósito, tres veces</a:t>
            </a:r>
          </a:p>
          <a:p>
            <a:pPr algn="l"/>
            <a:r>
              <a:rPr sz="1200" b="0">
                <a:solidFill>
                  <a:srgbClr val="262626"/>
                </a:solidFill>
                <a:latin typeface="Arial"/>
              </a:rPr>
              <a:t>pin +1 carácter → 41/42 · FR sin tarea → 41/42 · estado ilegal → 42/43</a:t>
            </a:r>
          </a:p>
        </p:txBody>
      </p:sp>
      <p:sp>
        <p:nvSpPr>
          <p:cNvPr id="111" name="TextBox 110"/>
          <p:cNvSpPr txBox="1"/>
          <p:nvPr/>
        </p:nvSpPr>
        <p:spPr>
          <a:xfrm>
            <a:off x="594360" y="4160520"/>
            <a:ext cx="7900416" cy="274320"/>
          </a:xfrm>
          <a:prstGeom prst="rect">
            <a:avLst/>
          </a:prstGeom>
          <a:noFill/>
        </p:spPr>
        <p:txBody>
          <a:bodyPr wrap="square" anchor="t" lIns="0" rIns="0" tIns="0" bIns="0">
            <a:spAutoFit/>
          </a:bodyPr>
          <a:lstStyle/>
          <a:p>
            <a:pPr algn="l"/>
            <a:r>
              <a:rPr sz="1200" b="1">
                <a:solidFill>
                  <a:srgbClr val="262626"/>
                </a:solidFill>
                <a:latin typeface="Arial"/>
              </a:rPr>
              <a:t>Un control que nunca viste en rojo no es un control: es una esperanza.</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El pipeline, de verdad</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Once eventos Avro a orders-kcd2026. Salida observada en revenue-por-cliente-ventana.</a:t>
            </a:r>
          </a:p>
        </p:txBody>
      </p:sp>
      <p:sp>
        <p:nvSpPr>
          <p:cNvPr id="93" name="Rectangle 92"/>
          <p:cNvSpPr/>
          <p:nvPr/>
        </p:nvSpPr>
        <p:spPr>
          <a:xfrm>
            <a:off x="502920" y="1463040"/>
            <a:ext cx="8138160" cy="2248852"/>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4" name="Rectangle 93"/>
          <p:cNvSpPr/>
          <p:nvPr/>
        </p:nvSpPr>
        <p:spPr>
          <a:xfrm>
            <a:off x="502920" y="1463040"/>
            <a:ext cx="8138160"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5" name="TextBox 94"/>
          <p:cNvSpPr txBox="1"/>
          <p:nvPr/>
        </p:nvSpPr>
        <p:spPr>
          <a:xfrm>
            <a:off x="612648" y="1485900"/>
            <a:ext cx="7918704" cy="182880"/>
          </a:xfrm>
          <a:prstGeom prst="rect">
            <a:avLst/>
          </a:prstGeom>
          <a:noFill/>
        </p:spPr>
        <p:txBody>
          <a:bodyPr wrap="none" lIns="0" rIns="0" tIns="0" bIns="0">
            <a:spAutoFit/>
          </a:bodyPr>
          <a:lstStyle/>
          <a:p>
            <a:r>
              <a:rPr sz="900">
                <a:solidFill>
                  <a:srgbClr val="A0A0A8"/>
                </a:solidFill>
                <a:latin typeface="Courier New"/>
              </a:rPr>
              <a:t>sesión e2e · docker compose</a:t>
            </a:r>
          </a:p>
        </p:txBody>
      </p:sp>
      <p:sp>
        <p:nvSpPr>
          <p:cNvPr id="96" name="TextBox 95"/>
          <p:cNvSpPr txBox="1"/>
          <p:nvPr/>
        </p:nvSpPr>
        <p:spPr>
          <a:xfrm>
            <a:off x="612648" y="1801368"/>
            <a:ext cx="7918704" cy="1791652"/>
          </a:xfrm>
          <a:prstGeom prst="rect">
            <a:avLst/>
          </a:prstGeom>
          <a:noFill/>
        </p:spPr>
        <p:txBody>
          <a:bodyPr wrap="none" lIns="0" rIns="0" tIns="0" bIns="0">
            <a:spAutoFit/>
          </a:bodyPr>
          <a:lstStyle/>
          <a:p>
            <a:pPr>
              <a:lnSpc>
                <a:spcPts val="1282"/>
              </a:lnSpc>
            </a:pPr>
            <a:r>
              <a:rPr sz="950">
                <a:solidFill>
                  <a:srgbClr val="7AD17A"/>
                </a:solidFill>
                <a:latin typeface="Courier New"/>
              </a:rPr>
              <a:t>$ flink run -d -c com.topaya.kcd2026.revenue.RevenueWindowJob /tmp/job.jar</a:t>
            </a:r>
          </a:p>
          <a:p>
            <a:pPr>
              <a:lnSpc>
                <a:spcPts val="1282"/>
              </a:lnSpc>
            </a:pPr>
            <a:r>
              <a:rPr sz="950">
                <a:solidFill>
                  <a:srgbClr val="D8D8DC"/>
                </a:solidFill>
                <a:latin typeface="Courier New"/>
              </a:rPr>
              <a:t>  Job has been submitted with JobID ec15637ae8b5def6761e968ba8e3a1fc · RUNNING</a:t>
            </a:r>
          </a:p>
          <a:p>
            <a:pPr>
              <a:lnSpc>
                <a:spcPts val="1282"/>
              </a:lnSpc>
            </a:pPr>
            <a:r>
              <a:rPr sz="950">
                <a:solidFill>
                  <a:srgbClr val="D8D8DC"/>
                </a:solidFill>
                <a:latin typeface="Courier New"/>
              </a:rPr>
              <a:t>  ventana : 60s event-time · desorden tolerado 5s · lateness 10s</a:t>
            </a:r>
          </a:p>
          <a:p>
            <a:pPr>
              <a:lnSpc>
                <a:spcPts val="1282"/>
              </a:lnSpc>
            </a:pPr>
            <a:r>
              <a:rPr sz="950">
                <a:solidFill>
                  <a:srgbClr val="D8D8DC"/>
                </a:solidFill>
                <a:latin typeface="Courier New"/>
              </a:rPr>
              <a:t>  fuente  : orders-kcd2026 (Avro vía Schema Registry)</a:t>
            </a:r>
          </a:p>
          <a:p>
            <a:pPr>
              <a:lnSpc>
                <a:spcPts val="1282"/>
              </a:lnSpc>
            </a:pPr>
            <a:r>
              <a:rPr sz="950">
                <a:solidFill>
                  <a:srgbClr val="D8D8DC"/>
                </a:solidFill>
                <a:latin typeface="Courier New"/>
              </a:rPr>
              <a:t>  gobierno: specs/001-revenue-ventana-cliente/spec.md</a:t>
            </a:r>
          </a:p>
          <a:p>
            <a:pPr>
              <a:lnSpc>
                <a:spcPts val="1282"/>
              </a:lnSpc>
            </a:pPr>
            <a:r>
              <a:rPr sz="950">
                <a:solidFill>
                  <a:srgbClr val="D8D8DC"/>
                </a:solidFill>
                <a:latin typeface="Courier New"/>
              </a:rPr>
              <a:t/>
            </a:r>
          </a:p>
          <a:p>
            <a:pPr>
              <a:lnSpc>
                <a:spcPts val="1282"/>
              </a:lnSpc>
            </a:pPr>
            <a:r>
              <a:rPr sz="950">
                <a:solidFill>
                  <a:srgbClr val="7AD17A"/>
                </a:solidFill>
                <a:latin typeface="Courier New"/>
              </a:rPr>
              <a:t>$ kafka-avro-console-consumer --topic revenue-por-cliente-ventana --from-beginning</a:t>
            </a:r>
          </a:p>
          <a:p>
            <a:pPr>
              <a:lnSpc>
                <a:spcPts val="1282"/>
              </a:lnSpc>
            </a:pPr>
            <a:r>
              <a:rPr sz="950">
                <a:solidFill>
                  <a:srgbClr val="D8D8DC"/>
                </a:solidFill>
                <a:latin typeface="Courier New"/>
              </a:rPr>
              <a:t>{"customerId":1,"windowStart":1749999960000,"windowEnd":1750000020000,</a:t>
            </a:r>
          </a:p>
          <a:p>
            <a:pPr>
              <a:lnSpc>
                <a:spcPts val="1282"/>
              </a:lnSpc>
            </a:pPr>
            <a:r>
              <a:rPr sz="950">
                <a:solidFill>
                  <a:srgbClr val="D8D8DC"/>
                </a:solidFill>
                <a:latin typeface="Courier New"/>
              </a:rPr>
              <a:t> "revenueTotal":160.0,"orderCount":3}</a:t>
            </a:r>
          </a:p>
          <a:p>
            <a:pPr>
              <a:lnSpc>
                <a:spcPts val="1282"/>
              </a:lnSpc>
            </a:pPr>
            <a:r>
              <a:rPr sz="950">
                <a:solidFill>
                  <a:srgbClr val="D8D8DC"/>
                </a:solidFill>
                <a:latin typeface="Courier New"/>
              </a:rPr>
              <a:t>{"customerId":2,"windowStart":1750000020000,"windowEnd":1750000080000,</a:t>
            </a:r>
          </a:p>
          <a:p>
            <a:pPr>
              <a:lnSpc>
                <a:spcPts val="1282"/>
              </a:lnSpc>
            </a:pPr>
            <a:r>
              <a:rPr sz="950">
                <a:solidFill>
                  <a:srgbClr val="D8D8DC"/>
                </a:solidFill>
                <a:latin typeface="Courier New"/>
              </a:rPr>
              <a:t> "revenueTotal":30.0,"orderCount":3}</a:t>
            </a:r>
          </a:p>
        </p:txBody>
      </p:sp>
      <p:sp>
        <p:nvSpPr>
          <p:cNvPr id="97" name="TextBox 96"/>
          <p:cNvSpPr txBox="1"/>
          <p:nvPr/>
        </p:nvSpPr>
        <p:spPr>
          <a:xfrm>
            <a:off x="1325880" y="3840480"/>
            <a:ext cx="5212080" cy="274320"/>
          </a:xfrm>
          <a:prstGeom prst="rect">
            <a:avLst/>
          </a:prstGeom>
          <a:noFill/>
        </p:spPr>
        <p:txBody>
          <a:bodyPr wrap="square" anchor="t" lIns="0" rIns="0" tIns="0" bIns="0">
            <a:spAutoFit/>
          </a:bodyPr>
          <a:lstStyle/>
          <a:p>
            <a:pPr algn="l"/>
            <a:r>
              <a:rPr sz="1200" b="1">
                <a:solidFill>
                  <a:srgbClr val="262626"/>
                </a:solidFill>
                <a:latin typeface="Arial"/>
              </a:rPr>
              <a:t>100.00 + 50.50 + 9.50 = 160.0 — incluida la orden desordenada</a:t>
            </a:r>
          </a:p>
        </p:txBody>
      </p:sp>
      <p:sp>
        <p:nvSpPr>
          <p:cNvPr id="98" name="Rounded Rectangle 97"/>
          <p:cNvSpPr/>
          <p:nvPr/>
        </p:nvSpPr>
        <p:spPr>
          <a:xfrm>
            <a:off x="6720840" y="3794760"/>
            <a:ext cx="1234440" cy="274320"/>
          </a:xfrm>
          <a:prstGeom prst="roundRect">
            <a:avLst>
              <a:gd name="adj" fmla="val 8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Arial"/>
              </a:rPr>
              <a:t>SC-001 ✓</a:t>
            </a:r>
          </a:p>
        </p:txBody>
      </p:sp>
      <p:sp>
        <p:nvSpPr>
          <p:cNvPr id="99" name="TextBox 98"/>
          <p:cNvSpPr txBox="1"/>
          <p:nvPr/>
        </p:nvSpPr>
        <p:spPr>
          <a:xfrm>
            <a:off x="1325880" y="4279392"/>
            <a:ext cx="5257800" cy="274320"/>
          </a:xfrm>
          <a:prstGeom prst="rect">
            <a:avLst/>
          </a:prstGeom>
          <a:noFill/>
        </p:spPr>
        <p:txBody>
          <a:bodyPr wrap="square" anchor="t" lIns="0" rIns="0" tIns="0" bIns="0">
            <a:spAutoFit/>
          </a:bodyPr>
          <a:lstStyle/>
          <a:p>
            <a:pPr algn="l"/>
            <a:r>
              <a:rPr sz="1200" b="1">
                <a:solidFill>
                  <a:srgbClr val="262626"/>
                </a:solidFill>
                <a:latin typeface="Arial"/>
              </a:rPr>
              <a:t>4 de 4 ventanas idénticas a la referencia calculada a mano</a:t>
            </a:r>
          </a:p>
        </p:txBody>
      </p:sp>
      <p:sp>
        <p:nvSpPr>
          <p:cNvPr id="100" name="Rounded Rectangle 99"/>
          <p:cNvSpPr/>
          <p:nvPr/>
        </p:nvSpPr>
        <p:spPr>
          <a:xfrm>
            <a:off x="6720840" y="4233672"/>
            <a:ext cx="1234440" cy="274320"/>
          </a:xfrm>
          <a:prstGeom prst="roundRect">
            <a:avLst>
              <a:gd name="adj" fmla="val 8000"/>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Arial"/>
              </a:rPr>
              <a:t>SC-006 ✓</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5"/>
          <p:cNvSpPr txBox="1"/>
          <p:nvPr/>
        </p:nvSpPr>
        <p:spPr>
          <a:xfrm>
            <a:off x="4304875" y="1330722"/>
            <a:ext cx="3566160" cy="1591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400">
                <a:solidFill>
                  <a:schemeClr val="dk1"/>
                </a:solidFill>
                <a:latin typeface="Arial"/>
                <a:ea typeface="Google Sans"/>
                <a:cs typeface="Google Sans"/>
                <a:sym typeface="Google Sans"/>
              </a:rPr>
              <a:t>Lo que</a:t>
            </a:r>
            <a:endParaRPr b="1" sz="4000">
              <a:solidFill>
                <a:schemeClr val="dk1"/>
              </a:solidFill>
              <a:latin typeface="Google Sans"/>
              <a:ea typeface="Google Sans"/>
              <a:cs typeface="Google Sans"/>
              <a:sym typeface="Google Sans"/>
            </a:endParaRPr>
          </a:p>
          <a:p>
            <a:pPr indent="0" lvl="0" marL="0" rtl="0" algn="l">
              <a:lnSpc>
                <a:spcPct val="90000"/>
              </a:lnSpc>
              <a:spcBef>
                <a:spcPts val="0"/>
              </a:spcBef>
              <a:spcAft>
                <a:spcPts val="1000"/>
              </a:spcAft>
              <a:buNone/>
            </a:pPr>
            <a:r>
              <a:rPr b="1" lang="en" sz="3400">
                <a:solidFill>
                  <a:schemeClr val="dk1"/>
                </a:solidFill>
                <a:latin typeface="Arial"/>
                <a:ea typeface="Google Sans"/>
                <a:cs typeface="Google Sans"/>
                <a:sym typeface="Google Sans"/>
              </a:rPr>
              <a:t>descubrimos</a:t>
            </a:r>
          </a:p>
        </p:txBody>
      </p:sp>
      <p:sp>
        <p:nvSpPr>
          <p:cNvPr id="96" name="Google Shape;96;p25"/>
          <p:cNvSpPr txBox="1"/>
          <p:nvPr/>
        </p:nvSpPr>
        <p:spPr>
          <a:xfrm>
            <a:off x="221550" y="177100"/>
            <a:ext cx="4053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FFFFFF"/>
                </a:solidFill>
                <a:latin typeface="Google Sans"/>
                <a:ea typeface="Google Sans"/>
                <a:cs typeface="Google Sans"/>
                <a:sym typeface="Google Sans"/>
              </a:rPr>
              <a:t>KCD_Lima_Perú_2026</a:t>
            </a:r>
            <a:endParaRPr b="1" sz="1200">
              <a:solidFill>
                <a:srgbClr val="FFFFFF"/>
              </a:solidFill>
              <a:latin typeface="Google Sans"/>
              <a:ea typeface="Google Sans"/>
              <a:cs typeface="Google Sans"/>
              <a:sym typeface="Google Sans"/>
            </a:endParaRPr>
          </a:p>
        </p:txBody>
      </p:sp>
      <p:sp>
        <p:nvSpPr>
          <p:cNvPr id="97" name="TextBox 96"/>
          <p:cNvSpPr txBox="1"/>
          <p:nvPr/>
        </p:nvSpPr>
        <p:spPr>
          <a:xfrm>
            <a:off x="822960" y="1737360"/>
            <a:ext cx="2011680" cy="1371600"/>
          </a:xfrm>
          <a:prstGeom prst="rect">
            <a:avLst/>
          </a:prstGeom>
          <a:noFill/>
        </p:spPr>
        <p:txBody>
          <a:bodyPr wrap="square" anchor="t" lIns="0" rIns="0" tIns="0" bIns="0">
            <a:spAutoFit/>
          </a:bodyPr>
          <a:lstStyle/>
          <a:p>
            <a:pPr algn="l"/>
            <a:r>
              <a:rPr sz="9000" b="1">
                <a:solidFill>
                  <a:srgbClr val="FFFFFF"/>
                </a:solidFill>
                <a:latin typeface="Arial"/>
              </a:rPr>
              <a:t>04</a:t>
            </a:r>
          </a:p>
        </p:txBody>
      </p:sp>
      <p:sp>
        <p:nvSpPr>
          <p:cNvPr id="98" name="TextBox 97"/>
          <p:cNvSpPr txBox="1"/>
          <p:nvPr/>
        </p:nvSpPr>
        <p:spPr>
          <a:xfrm>
            <a:off x="4304875" y="3031950"/>
            <a:ext cx="3566160" cy="365760"/>
          </a:xfrm>
          <a:prstGeom prst="rect">
            <a:avLst/>
          </a:prstGeom>
          <a:noFill/>
        </p:spPr>
        <p:txBody>
          <a:bodyPr wrap="square" anchor="t" lIns="0" rIns="0" tIns="0" bIns="0">
            <a:spAutoFit/>
          </a:bodyPr>
          <a:lstStyle/>
          <a:p>
            <a:pPr algn="l"/>
            <a:r>
              <a:rPr sz="1200" b="0">
                <a:solidFill>
                  <a:srgbClr val="5A5A5A"/>
                </a:solidFill>
                <a:latin typeface="Arial"/>
              </a:rPr>
              <a:t>Lo que el gobierno hizo solo</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El gate se puso rojo solo</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Propusimos un ADR para decidir cómo generar este deck. Nadie programó lo que pasó después.</a:t>
            </a:r>
          </a:p>
        </p:txBody>
      </p:sp>
      <p:sp>
        <p:nvSpPr>
          <p:cNvPr id="93" name="Rectangle 92"/>
          <p:cNvSpPr/>
          <p:nvPr/>
        </p:nvSpPr>
        <p:spPr>
          <a:xfrm>
            <a:off x="502920" y="1481328"/>
            <a:ext cx="8138160" cy="1597342"/>
          </a:xfrm>
          <a:prstGeom prst="rect">
            <a:avLst/>
          </a:prstGeom>
          <a:solidFill>
            <a:srgbClr val="1B1B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4" name="Rectangle 93"/>
          <p:cNvSpPr/>
          <p:nvPr/>
        </p:nvSpPr>
        <p:spPr>
          <a:xfrm>
            <a:off x="502920" y="1481328"/>
            <a:ext cx="8138160" cy="219456"/>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5" name="TextBox 94"/>
          <p:cNvSpPr txBox="1"/>
          <p:nvPr/>
        </p:nvSpPr>
        <p:spPr>
          <a:xfrm>
            <a:off x="612648" y="1504188"/>
            <a:ext cx="7918704" cy="182880"/>
          </a:xfrm>
          <a:prstGeom prst="rect">
            <a:avLst/>
          </a:prstGeom>
          <a:noFill/>
        </p:spPr>
        <p:txBody>
          <a:bodyPr wrap="none" lIns="0" rIns="0" tIns="0" bIns="0">
            <a:spAutoFit/>
          </a:bodyPr>
          <a:lstStyle/>
          <a:p>
            <a:r>
              <a:rPr sz="900">
                <a:solidFill>
                  <a:srgbClr val="A0A0A8"/>
                </a:solidFill>
                <a:latin typeface="Courier New"/>
              </a:rPr>
              <a:t>day_zero_demo_check.py</a:t>
            </a:r>
          </a:p>
        </p:txBody>
      </p:sp>
      <p:sp>
        <p:nvSpPr>
          <p:cNvPr id="96" name="TextBox 95"/>
          <p:cNvSpPr txBox="1"/>
          <p:nvPr/>
        </p:nvSpPr>
        <p:spPr>
          <a:xfrm>
            <a:off x="612648" y="1819656"/>
            <a:ext cx="7918704" cy="1140142"/>
          </a:xfrm>
          <a:prstGeom prst="rect">
            <a:avLst/>
          </a:prstGeom>
          <a:noFill/>
        </p:spPr>
        <p:txBody>
          <a:bodyPr wrap="none" lIns="0" rIns="0" tIns="0" bIns="0">
            <a:spAutoFit/>
          </a:bodyPr>
          <a:lstStyle/>
          <a:p>
            <a:pPr>
              <a:lnSpc>
                <a:spcPts val="1282"/>
              </a:lnSpc>
            </a:pPr>
            <a:r>
              <a:rPr sz="950">
                <a:solidFill>
                  <a:srgbClr val="7AD17A"/>
                </a:solidFill>
                <a:latin typeface="Courier New"/>
              </a:rPr>
              <a:t>$ python3 tools/validation/day_zero_demo_check.py .</a:t>
            </a:r>
          </a:p>
          <a:p>
            <a:pPr>
              <a:lnSpc>
                <a:spcPts val="1282"/>
              </a:lnSpc>
            </a:pPr>
            <a:r>
              <a:rPr sz="950" b="1">
                <a:solidFill>
                  <a:srgbClr val="FF6B6B"/>
                </a:solidFill>
                <a:latin typeface="Courier New"/>
              </a:rPr>
              <a:t>[FAIL] el release requiere ADR vigentes sin propuestas abiertas:</a:t>
            </a:r>
          </a:p>
          <a:p>
            <a:pPr>
              <a:lnSpc>
                <a:spcPts val="1282"/>
              </a:lnSpc>
            </a:pPr>
            <a:r>
              <a:rPr sz="950" b="1">
                <a:solidFill>
                  <a:srgbClr val="FF6B6B"/>
                </a:solidFill>
                <a:latin typeface="Courier New"/>
              </a:rPr>
              <a:t>       {'total': 15, 'accepted': 14, 'proposed': 1, 'deprecated': 0}</a:t>
            </a:r>
          </a:p>
          <a:p>
            <a:pPr>
              <a:lnSpc>
                <a:spcPts val="1282"/>
              </a:lnSpc>
            </a:pPr>
            <a:r>
              <a:rPr sz="950">
                <a:solidFill>
                  <a:srgbClr val="D8D8DC"/>
                </a:solidFill>
                <a:latin typeface="Courier New"/>
              </a:rPr>
              <a:t/>
            </a:r>
          </a:p>
          <a:p>
            <a:pPr>
              <a:lnSpc>
                <a:spcPts val="1282"/>
              </a:lnSpc>
            </a:pPr>
            <a:r>
              <a:rPr sz="950">
                <a:solidFill>
                  <a:srgbClr val="7AD17A"/>
                </a:solidFill>
                <a:latin typeface="Courier New"/>
              </a:rPr>
              <a:t>$ # ADR-0015 aceptado por firma humana; catálogo recompilado</a:t>
            </a:r>
          </a:p>
          <a:p>
            <a:pPr>
              <a:lnSpc>
                <a:spcPts val="1282"/>
              </a:lnSpc>
            </a:pPr>
            <a:r>
              <a:rPr sz="950">
                <a:solidFill>
                  <a:srgbClr val="7AD17A"/>
                </a:solidFill>
                <a:latin typeface="Courier New"/>
              </a:rPr>
              <a:t>$ python3 tools/validation/day_zero_demo_check.py .</a:t>
            </a:r>
          </a:p>
          <a:p>
            <a:pPr>
              <a:lnSpc>
                <a:spcPts val="1282"/>
              </a:lnSpc>
            </a:pPr>
            <a:r>
              <a:rPr sz="950">
                <a:solidFill>
                  <a:srgbClr val="7AD17A"/>
                </a:solidFill>
                <a:latin typeface="Courier New"/>
              </a:rPr>
              <a:t>[core-demo] OK: Core 3.1.0 portable bajo ADR-0013; raíz única derivada</a:t>
            </a:r>
          </a:p>
        </p:txBody>
      </p:sp>
      <p:sp>
        <p:nvSpPr>
          <p:cNvPr id="97" name="TextBox 96"/>
          <p:cNvSpPr txBox="1"/>
          <p:nvPr/>
        </p:nvSpPr>
        <p:spPr>
          <a:xfrm>
            <a:off x="502920" y="3337560"/>
            <a:ext cx="8138160" cy="502920"/>
          </a:xfrm>
          <a:prstGeom prst="rect">
            <a:avLst/>
          </a:prstGeom>
          <a:noFill/>
        </p:spPr>
        <p:txBody>
          <a:bodyPr wrap="square" anchor="t" lIns="0" rIns="0" tIns="0" bIns="0">
            <a:spAutoFit/>
          </a:bodyPr>
          <a:lstStyle/>
          <a:p>
            <a:pPr algn="l"/>
            <a:r>
              <a:rPr sz="1500" b="1">
                <a:solidFill>
                  <a:srgbClr val="262626"/>
                </a:solidFill>
                <a:latin typeface="Arial"/>
              </a:rPr>
              <a:t>El baseline se niega a regenerar su demo de “todo vigente”</a:t>
            </a:r>
          </a:p>
          <a:p>
            <a:pPr algn="l"/>
            <a:r>
              <a:rPr sz="1500" b="1">
                <a:solidFill>
                  <a:srgbClr val="262626"/>
                </a:solidFill>
                <a:latin typeface="Arial"/>
              </a:rPr>
              <a:t>mientras haya una decisión estructural sin firmar.</a:t>
            </a:r>
          </a:p>
        </p:txBody>
      </p:sp>
      <p:sp>
        <p:nvSpPr>
          <p:cNvPr id="98" name="TextBox 97"/>
          <p:cNvSpPr txBox="1"/>
          <p:nvPr/>
        </p:nvSpPr>
        <p:spPr>
          <a:xfrm>
            <a:off x="1325880" y="3986784"/>
            <a:ext cx="7360920" cy="411480"/>
          </a:xfrm>
          <a:prstGeom prst="rect">
            <a:avLst/>
          </a:prstGeom>
          <a:noFill/>
        </p:spPr>
        <p:txBody>
          <a:bodyPr wrap="square" anchor="t" lIns="0" rIns="0" tIns="0" bIns="0">
            <a:spAutoFit/>
          </a:bodyPr>
          <a:lstStyle/>
          <a:p>
            <a:pPr algn="l"/>
            <a:r>
              <a:rPr sz="1100" b="0">
                <a:solidFill>
                  <a:srgbClr val="5A5A5A"/>
                </a:solidFill>
                <a:latin typeface="Arial"/>
              </a:rPr>
              <a:t>La IA redactó el ADR. El humano lo firmó. Solo entonces el gate cedió.</a:t>
            </a:r>
          </a:p>
          <a:p>
            <a:pPr algn="l"/>
            <a:r>
              <a:rPr sz="1100" b="0">
                <a:solidFill>
                  <a:srgbClr val="5A5A5A"/>
                </a:solidFill>
                <a:latin typeface="Arial"/>
              </a:rPr>
              <a:t>generate_day_zero_demos.py:198 · commit 274812f</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solidFill>
                  <a:schemeClr val="dk1"/>
                </a:solidFill>
                <a:latin typeface="Arial"/>
                <a:ea typeface="Google Sans"/>
                <a:cs typeface="Google Sans"/>
                <a:sym typeface="Google Sans"/>
              </a:rPr>
              <a:t>Qué NO demostramos</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600200"/>
            <a:ext cx="3931920" cy="155448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200">
                <a:solidFill>
                  <a:schemeClr val="dk1"/>
                </a:solidFill>
                <a:latin typeface="Arial"/>
                <a:ea typeface="Google Sans"/>
                <a:cs typeface="Google Sans"/>
                <a:sym typeface="Google Sans"/>
              </a:rPr>
              <a:t>Exactitud fiscal: seguimos en double, no decimal</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200">
                <a:solidFill>
                  <a:schemeClr val="dk1"/>
                </a:solidFill>
                <a:latin typeface="Arial"/>
                <a:ea typeface="Google Sans"/>
                <a:cs typeface="Google Sans"/>
                <a:sym typeface="Google Sans"/>
              </a:rPr>
              <a:t>Checkpoints, recuperación ante fallo, exactly-once (sink AT_LEAST_ONCE)</a:t>
            </a:r>
          </a:p>
          <a:p>
            <a:pPr indent="-342900" lvl="0" marL="457200" rtl="0" algn="l">
              <a:lnSpc>
                <a:spcPct val="150000"/>
              </a:lnSpc>
              <a:spcBef>
                <a:spcPts val="0"/>
              </a:spcBef>
              <a:spcAft>
                <a:spcPts val="0"/>
              </a:spcAft>
              <a:buClr>
                <a:schemeClr val="dk1"/>
              </a:buClr>
              <a:buSzPts val="1800"/>
              <a:buFont typeface="Google Sans"/>
              <a:buAutoNum type="arabicPeriod"/>
            </a:pPr>
            <a:r>
              <a:rPr lang="en" sz="1200">
                <a:solidFill>
                  <a:schemeClr val="dk1"/>
                </a:solidFill>
                <a:latin typeface="Arial"/>
                <a:ea typeface="Google Sans"/>
                <a:cs typeface="Google Sans"/>
                <a:sym typeface="Google Sans"/>
              </a:rPr>
              <a:t>Tardíos más allá del lateness declarado; rendimiento, escala</a:t>
            </a:r>
          </a:p>
          <a:p>
            <a:pPr indent="-342900" lvl="0" marL="457200" rtl="0" algn="l">
              <a:lnSpc>
                <a:spcPct val="150000"/>
              </a:lnSpc>
              <a:spcBef>
                <a:spcPts val="0"/>
              </a:spcBef>
              <a:spcAft>
                <a:spcPts val="0"/>
              </a:spcAft>
              <a:buClr>
                <a:schemeClr val="dk1"/>
              </a:buClr>
              <a:buSzPts val="1800"/>
              <a:buFont typeface="Google Sans"/>
              <a:buAutoNum type="arabicPeriod"/>
            </a:pPr>
            <a:r>
              <a:rPr lang="en" sz="1200">
                <a:solidFill>
                  <a:schemeClr val="dk1"/>
                </a:solidFill>
                <a:latin typeface="Arial"/>
                <a:ea typeface="Google Sans"/>
                <a:cs typeface="Google Sans"/>
                <a:sym typeface="Google Sans"/>
              </a:rPr>
              <a:t>Operación en producción, adopción, outcome de negocio</a:t>
            </a:r>
          </a:p>
          <a:p>
            <a:pPr indent="-342900" lvl="0" marL="457200" rtl="0" algn="l">
              <a:lnSpc>
                <a:spcPct val="150000"/>
              </a:lnSpc>
              <a:spcBef>
                <a:spcPts val="0"/>
              </a:spcBef>
              <a:spcAft>
                <a:spcPts val="0"/>
              </a:spcAft>
              <a:buClr>
                <a:schemeClr val="dk1"/>
              </a:buClr>
              <a:buSzPts val="1800"/>
              <a:buFont typeface="Google Sans"/>
              <a:buAutoNum type="arabicPeriod"/>
            </a:pPr>
            <a:r>
              <a:rPr lang="en" sz="1200">
                <a:solidFill>
                  <a:schemeClr val="dk1"/>
                </a:solidFill>
                <a:latin typeface="Arial"/>
                <a:ea typeface="Google Sans"/>
                <a:cs typeface="Google Sans"/>
                <a:sym typeface="Google Sans"/>
              </a:rPr>
              <a:t>EDAIOS gobernando pipelines de Flink en una organización real</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4709160" y="1600200"/>
            <a:ext cx="3931920" cy="2468880"/>
          </a:xfrm>
          <a:prstGeom prst="rect">
            <a:avLst/>
          </a:prstGeom>
          <a:noFill/>
        </p:spPr>
        <p:txBody>
          <a:bodyPr wrap="square" anchor="t" lIns="0" rIns="0" tIns="0" bIns="0">
            <a:spAutoFit/>
          </a:bodyPr>
          <a:lstStyle/>
          <a:p>
            <a:pPr algn="l"/>
            <a:r>
              <a:rPr sz="1200" b="0">
                <a:solidFill>
                  <a:srgbClr val="FFFFFF"/>
                </a:solidFill>
                <a:latin typeface="Arial"/>
              </a:rPr>
              <a:t>El importe agregado no es una cifra</a:t>
            </a:r>
          </a:p>
          <a:p>
            <a:pPr algn="l"/>
            <a:r>
              <a:rPr sz="1200" b="0">
                <a:solidFill>
                  <a:srgbClr val="FFFFFF"/>
                </a:solidFill>
                <a:latin typeface="Arial"/>
              </a:rPr>
              <a:t>de negocio: es una suma sobre fixtures.</a:t>
            </a:r>
          </a:p>
          <a:p>
            <a:pPr algn="l"/>
            <a:r>
              <a:rPr sz="1200" b="0">
                <a:solidFill>
                  <a:srgbClr val="FFFFFF"/>
                </a:solidFill>
                <a:latin typeface="Arial"/>
              </a:rPr>
              <a:t/>
            </a:r>
          </a:p>
          <a:p>
            <a:pPr algn="l"/>
            <a:r>
              <a:rPr sz="1200" b="0">
                <a:solidFill>
                  <a:srgbClr val="FFFFFF"/>
                </a:solidFill>
                <a:latin typeface="Arial"/>
              </a:rPr>
              <a:t>Once eventos sintéticos, un broker,</a:t>
            </a:r>
          </a:p>
          <a:p>
            <a:pPr algn="l"/>
            <a:r>
              <a:rPr sz="1200" b="0">
                <a:solidFill>
                  <a:srgbClr val="FFFFFF"/>
                </a:solidFill>
                <a:latin typeface="Arial"/>
              </a:rPr>
              <a:t>un taskmanager, en una laptop.</a:t>
            </a:r>
          </a:p>
          <a:p>
            <a:pPr algn="l"/>
            <a:r>
              <a:rPr sz="1200" b="0">
                <a:solidFill>
                  <a:srgbClr val="FFFFFF"/>
                </a:solidFill>
                <a:latin typeface="Arial"/>
              </a:rPr>
              <a:t/>
            </a:r>
          </a:p>
          <a:p>
            <a:pPr algn="l"/>
            <a:r>
              <a:rPr sz="1200" b="0">
                <a:solidFill>
                  <a:srgbClr val="FFFFFF"/>
                </a:solidFill>
                <a:latin typeface="Arial"/>
              </a:rPr>
              <a:t>Un pipeline verificado en un compose</a:t>
            </a:r>
          </a:p>
          <a:p>
            <a:pPr algn="l"/>
            <a:r>
              <a:rPr sz="1200" b="0">
                <a:solidFill>
                  <a:srgbClr val="FFFFFF"/>
                </a:solidFill>
                <a:latin typeface="Arial"/>
              </a:rPr>
              <a:t>no es un pipeline en producción.</a:t>
            </a:r>
          </a:p>
          <a:p>
            <a:pPr algn="l"/>
            <a:r>
              <a:rPr sz="1200" b="0">
                <a:solidFill>
                  <a:srgbClr val="FFFFFF"/>
                </a:solidFill>
                <a:latin typeface="Arial"/>
              </a:rPr>
              <a:t/>
            </a:r>
          </a:p>
          <a:p>
            <a:pPr algn="l"/>
            <a:r>
              <a:rPr sz="1200" b="0">
                <a:solidFill>
                  <a:srgbClr val="FFFFFF"/>
                </a:solidFill>
                <a:latin typeface="Arial"/>
              </a:rPr>
              <a:t>Esta slide también es el patrón:</a:t>
            </a:r>
          </a:p>
          <a:p>
            <a:pPr algn="l"/>
            <a:r>
              <a:rPr sz="1200" b="0">
                <a:solidFill>
                  <a:srgbClr val="FFFFFF"/>
                </a:solidFill>
                <a:latin typeface="Arial"/>
              </a:rPr>
              <a:t>declarar el límite es parte del método.</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27"/>
          <p:cNvSpPr txBox="1"/>
          <p:nvPr/>
        </p:nvSpPr>
        <p:spPr>
          <a:xfrm>
            <a:off x="771525" y="1890850"/>
            <a:ext cx="3577800" cy="191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latin typeface="Arial"/>
                <a:ea typeface="Google Sans"/>
                <a:cs typeface="Google Sans"/>
                <a:sym typeface="Google Sans"/>
              </a:rPr>
              <a:t>“Un gate verifica;</a:t>
            </a:r>
            <a:endParaRPr b="1" sz="3000">
              <a:solidFill>
                <a:srgbClr val="000000"/>
              </a:solidFill>
              <a:latin typeface="Google Sans"/>
              <a:ea typeface="Google Sans"/>
              <a:cs typeface="Google Sans"/>
              <a:sym typeface="Google Sans"/>
            </a:endParaRPr>
          </a:p>
          <a:p>
            <a:pPr indent="0" lvl="0" marL="0" rtl="0" algn="l">
              <a:spcBef>
                <a:spcPts val="0"/>
              </a:spcBef>
              <a:spcAft>
                <a:spcPts val="0"/>
              </a:spcAft>
              <a:buNone/>
            </a:pPr>
            <a:r>
              <a:rPr b="1" lang="en" sz="2700">
                <a:latin typeface="Arial"/>
                <a:ea typeface="Google Sans"/>
                <a:cs typeface="Google Sans"/>
                <a:sym typeface="Google Sans"/>
              </a:rPr>
              <a:t>una persona</a:t>
            </a:r>
          </a:p>
          <a:p>
            <a:pPr indent="0" lvl="0" marL="0" rtl="0" algn="l">
              <a:spcBef>
                <a:spcPts val="0"/>
              </a:spcBef>
              <a:spcAft>
                <a:spcPts val="0"/>
              </a:spcAft>
              <a:buNone/>
            </a:pPr>
            <a:r>
              <a:rPr b="1" lang="en" sz="2700">
                <a:latin typeface="Arial"/>
                <a:ea typeface="Google Sans"/>
                <a:cs typeface="Google Sans"/>
                <a:sym typeface="Google Sans"/>
              </a:rPr>
              <a:t>autorizada acepta”</a:t>
            </a:r>
          </a:p>
        </p:txBody>
      </p:sp>
      <p:sp>
        <p:nvSpPr>
          <p:cNvPr id="109" name="Google Shape;109;p27"/>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FFFFFF"/>
                </a:solidFill>
                <a:latin typeface="Google Sans"/>
                <a:ea typeface="Google Sans"/>
                <a:cs typeface="Google Sans"/>
                <a:sym typeface="Google Sans"/>
              </a:rPr>
              <a:t>KCD_Lima_Perú_2026</a:t>
            </a:r>
            <a:endParaRPr b="1" sz="1500">
              <a:solidFill>
                <a:srgbClr val="FFFFFF"/>
              </a:solidFill>
              <a:latin typeface="Google Sans"/>
              <a:ea typeface="Google Sans"/>
              <a:cs typeface="Google Sans"/>
              <a:sym typeface="Google Sans"/>
            </a:endParaRPr>
          </a:p>
        </p:txBody>
      </p:sp>
      <p:sp>
        <p:nvSpPr>
          <p:cNvPr id="110" name="TextBox 109"/>
          <p:cNvSpPr txBox="1"/>
          <p:nvPr/>
        </p:nvSpPr>
        <p:spPr>
          <a:xfrm>
            <a:off x="640080" y="640080"/>
            <a:ext cx="1645920" cy="1554480"/>
          </a:xfrm>
          <a:prstGeom prst="rect">
            <a:avLst/>
          </a:prstGeom>
          <a:noFill/>
        </p:spPr>
        <p:txBody>
          <a:bodyPr wrap="square" anchor="t" lIns="0" rIns="0" tIns="0" bIns="0">
            <a:spAutoFit/>
          </a:bodyPr>
          <a:lstStyle/>
          <a:p>
            <a:pPr algn="l"/>
            <a:r>
              <a:rPr sz="13000" b="1">
                <a:solidFill>
                  <a:srgbClr val="004CA8"/>
                </a:solidFill>
                <a:latin typeface="Arial"/>
              </a:rPr>
              <a:t>“</a:t>
            </a:r>
          </a:p>
        </p:txBody>
      </p:sp>
      <p:sp>
        <p:nvSpPr>
          <p:cNvPr id="111" name="TextBox 110"/>
          <p:cNvSpPr txBox="1"/>
          <p:nvPr/>
        </p:nvSpPr>
        <p:spPr>
          <a:xfrm>
            <a:off x="731520" y="4023360"/>
            <a:ext cx="3657600" cy="365760"/>
          </a:xfrm>
          <a:prstGeom prst="rect">
            <a:avLst/>
          </a:prstGeom>
          <a:noFill/>
        </p:spPr>
        <p:txBody>
          <a:bodyPr wrap="square" anchor="t" lIns="0" rIns="0" tIns="0" bIns="0">
            <a:spAutoFit/>
          </a:bodyPr>
          <a:lstStyle/>
          <a:p>
            <a:pPr algn="l"/>
            <a:r>
              <a:rPr sz="1100" b="0">
                <a:solidFill>
                  <a:srgbClr val="FFFFFF"/>
                </a:solidFill>
                <a:latin typeface="Arial"/>
              </a:rPr>
              <a:t>governance/README.md</a:t>
            </a:r>
          </a:p>
        </p:txBody>
      </p:sp>
      <p:sp>
        <p:nvSpPr>
          <p:cNvPr id="112" name="TextBox 111"/>
          <p:cNvSpPr txBox="1"/>
          <p:nvPr/>
        </p:nvSpPr>
        <p:spPr>
          <a:xfrm>
            <a:off x="5029200" y="2103120"/>
            <a:ext cx="3566160" cy="365760"/>
          </a:xfrm>
          <a:prstGeom prst="rect">
            <a:avLst/>
          </a:prstGeom>
          <a:noFill/>
        </p:spPr>
        <p:txBody>
          <a:bodyPr wrap="square" anchor="t" lIns="0" rIns="0" tIns="0" bIns="0">
            <a:spAutoFit/>
          </a:bodyPr>
          <a:lstStyle/>
          <a:p>
            <a:pPr algn="l"/>
            <a:r>
              <a:rPr sz="1400" b="1">
                <a:solidFill>
                  <a:srgbClr val="262626"/>
                </a:solidFill>
                <a:latin typeface="Arial"/>
              </a:rPr>
              <a:t>spec → gate → evidencia</a:t>
            </a:r>
          </a:p>
        </p:txBody>
      </p:sp>
      <p:sp>
        <p:nvSpPr>
          <p:cNvPr id="113" name="TextBox 112"/>
          <p:cNvSpPr txBox="1"/>
          <p:nvPr/>
        </p:nvSpPr>
        <p:spPr>
          <a:xfrm>
            <a:off x="5029200" y="2514600"/>
            <a:ext cx="3566160" cy="320040"/>
          </a:xfrm>
          <a:prstGeom prst="rect">
            <a:avLst/>
          </a:prstGeom>
          <a:noFill/>
        </p:spPr>
        <p:txBody>
          <a:bodyPr wrap="square" anchor="t" lIns="0" rIns="0" tIns="0" bIns="0">
            <a:spAutoFit/>
          </a:bodyPr>
          <a:lstStyle/>
          <a:p>
            <a:pPr algn="l"/>
            <a:r>
              <a:rPr sz="1100" b="0">
                <a:solidFill>
                  <a:srgbClr val="5A5A5A"/>
                </a:solidFill>
                <a:latin typeface="Arial"/>
              </a:rPr>
              <a:t>data-evolutionary · módulo data-kcd2026</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5"/>
          <p:cNvSpPr txBox="1"/>
          <p:nvPr/>
        </p:nvSpPr>
        <p:spPr>
          <a:xfrm>
            <a:off x="4304875" y="1330722"/>
            <a:ext cx="3566160" cy="1591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000"/>
              </a:spcAft>
              <a:buNone/>
            </a:pPr>
            <a:r>
              <a:rPr b="1" lang="en" sz="3400">
                <a:solidFill>
                  <a:schemeClr val="dk1"/>
                </a:solidFill>
                <a:latin typeface="Arial"/>
                <a:ea typeface="Google Sans"/>
                <a:cs typeface="Google Sans"/>
                <a:sym typeface="Google Sans"/>
              </a:rPr>
              <a:t>Anexos</a:t>
            </a:r>
            <a:endParaRPr b="1" sz="4000">
              <a:solidFill>
                <a:schemeClr val="dk1"/>
              </a:solidFill>
              <a:latin typeface="Google Sans"/>
              <a:ea typeface="Google Sans"/>
              <a:cs typeface="Google Sans"/>
              <a:sym typeface="Google Sans"/>
            </a:endParaRPr>
          </a:p>
        </p:txBody>
      </p:sp>
      <p:sp>
        <p:nvSpPr>
          <p:cNvPr id="96" name="Google Shape;96;p25"/>
          <p:cNvSpPr txBox="1"/>
          <p:nvPr/>
        </p:nvSpPr>
        <p:spPr>
          <a:xfrm>
            <a:off x="221550" y="177100"/>
            <a:ext cx="4053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FFFFFF"/>
                </a:solidFill>
                <a:latin typeface="Google Sans"/>
                <a:ea typeface="Google Sans"/>
                <a:cs typeface="Google Sans"/>
                <a:sym typeface="Google Sans"/>
              </a:rPr>
              <a:t>KCD_Lima_Perú_2026</a:t>
            </a:r>
            <a:endParaRPr b="1" sz="1200">
              <a:solidFill>
                <a:srgbClr val="FFFFFF"/>
              </a:solidFill>
              <a:latin typeface="Google Sans"/>
              <a:ea typeface="Google Sans"/>
              <a:cs typeface="Google Sans"/>
              <a:sym typeface="Google Sans"/>
            </a:endParaRPr>
          </a:p>
        </p:txBody>
      </p:sp>
      <p:sp>
        <p:nvSpPr>
          <p:cNvPr id="97" name="TextBox 96"/>
          <p:cNvSpPr txBox="1"/>
          <p:nvPr/>
        </p:nvSpPr>
        <p:spPr>
          <a:xfrm>
            <a:off x="822960" y="1737360"/>
            <a:ext cx="2011680" cy="1371600"/>
          </a:xfrm>
          <a:prstGeom prst="rect">
            <a:avLst/>
          </a:prstGeom>
          <a:noFill/>
        </p:spPr>
        <p:txBody>
          <a:bodyPr wrap="square" anchor="t" lIns="0" rIns="0" tIns="0" bIns="0">
            <a:spAutoFit/>
          </a:bodyPr>
          <a:lstStyle/>
          <a:p>
            <a:pPr algn="l"/>
            <a:r>
              <a:rPr sz="9000" b="1">
                <a:solidFill>
                  <a:srgbClr val="FFFFFF"/>
                </a:solidFill>
                <a:latin typeface="Arial"/>
              </a:rPr>
              <a:t>05</a:t>
            </a:r>
          </a:p>
        </p:txBody>
      </p:sp>
      <p:sp>
        <p:nvSpPr>
          <p:cNvPr id="98" name="TextBox 97"/>
          <p:cNvSpPr txBox="1"/>
          <p:nvPr/>
        </p:nvSpPr>
        <p:spPr>
          <a:xfrm>
            <a:off x="4304875" y="3031950"/>
            <a:ext cx="3566160" cy="365760"/>
          </a:xfrm>
          <a:prstGeom prst="rect">
            <a:avLst/>
          </a:prstGeom>
          <a:noFill/>
        </p:spPr>
        <p:txBody>
          <a:bodyPr wrap="square" anchor="t" lIns="0" rIns="0" tIns="0" bIns="0">
            <a:spAutoFit/>
          </a:bodyPr>
          <a:lstStyle/>
          <a:p>
            <a:pPr algn="l"/>
            <a:r>
              <a:rPr sz="1200" b="0">
                <a:solidFill>
                  <a:srgbClr val="5A5A5A"/>
                </a:solidFill>
                <a:latin typeface="Arial"/>
              </a:rPr>
              <a:t>Las vistas completas viajan en el PDF</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000" b="1">
                <a:solidFill>
                  <a:srgbClr val="262626"/>
                </a:solidFill>
                <a:latin typeface="Arial"/>
              </a:rPr>
              <a:t>EDAIOS: el sistema operativo completo (vista day-zero)</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Anexo A1 del PDF entregable — vista completa, texto seleccionable</a:t>
            </a:r>
          </a:p>
        </p:txBody>
      </p:sp>
      <p:pic>
        <p:nvPicPr>
          <p:cNvPr id="93" name="Picture 92" descr="preview-a1.png"/>
          <p:cNvPicPr>
            <a:picLocks noChangeAspect="1"/>
          </p:cNvPicPr>
          <p:nvPr/>
        </p:nvPicPr>
        <p:blipFill>
          <a:blip r:embed="rId2"/>
          <a:stretch>
            <a:fillRect/>
          </a:stretch>
        </p:blipFill>
        <p:spPr>
          <a:xfrm>
            <a:off x="1325880" y="1554480"/>
            <a:ext cx="2261062" cy="2926080"/>
          </a:xfrm>
          <a:prstGeom prst="rect">
            <a:avLst/>
          </a:prstGeom>
        </p:spPr>
      </p:pic>
      <p:sp>
        <p:nvSpPr>
          <p:cNvPr id="94" name="Rectangle 93"/>
          <p:cNvSpPr/>
          <p:nvPr/>
        </p:nvSpPr>
        <p:spPr>
          <a:xfrm>
            <a:off x="1325880" y="1554480"/>
            <a:ext cx="2261062" cy="2926080"/>
          </a:xfrm>
          <a:prstGeom prst="rect">
            <a:avLst/>
          </a:prstGeom>
          <a:no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5" name="Rounded Rectangle 94"/>
          <p:cNvSpPr/>
          <p:nvPr/>
        </p:nvSpPr>
        <p:spPr>
          <a:xfrm>
            <a:off x="4709160" y="1554480"/>
            <a:ext cx="3931920" cy="2743200"/>
          </a:xfrm>
          <a:prstGeom prst="roundRect">
            <a:avLst>
              <a:gd name="adj" fmla="val 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6" name="TextBox 95"/>
          <p:cNvSpPr txBox="1"/>
          <p:nvPr/>
        </p:nvSpPr>
        <p:spPr>
          <a:xfrm>
            <a:off x="4892040" y="1719072"/>
            <a:ext cx="3566160" cy="256032"/>
          </a:xfrm>
          <a:prstGeom prst="rect">
            <a:avLst/>
          </a:prstGeom>
          <a:noFill/>
        </p:spPr>
        <p:txBody>
          <a:bodyPr wrap="square" anchor="t" lIns="0" rIns="0" tIns="0" bIns="0">
            <a:spAutoFit/>
          </a:bodyPr>
          <a:lstStyle/>
          <a:p>
            <a:pPr algn="l"/>
            <a:r>
              <a:rPr sz="1200" b="1">
                <a:solidFill>
                  <a:srgbClr val="262626"/>
                </a:solidFill>
                <a:latin typeface="Arial"/>
              </a:rPr>
              <a:t>Fuente</a:t>
            </a:r>
          </a:p>
        </p:txBody>
      </p:sp>
      <p:sp>
        <p:nvSpPr>
          <p:cNvPr id="97" name="TextBox 96"/>
          <p:cNvSpPr txBox="1"/>
          <p:nvPr/>
        </p:nvSpPr>
        <p:spPr>
          <a:xfrm>
            <a:off x="4892040" y="1993392"/>
            <a:ext cx="3566160" cy="320040"/>
          </a:xfrm>
          <a:prstGeom prst="rect">
            <a:avLst/>
          </a:prstGeom>
          <a:noFill/>
        </p:spPr>
        <p:txBody>
          <a:bodyPr wrap="square" anchor="t" lIns="0" rIns="0" tIns="0" bIns="0">
            <a:spAutoFit/>
          </a:bodyPr>
          <a:lstStyle/>
          <a:p>
            <a:pPr algn="l"/>
            <a:r>
              <a:rPr sz="900" b="0">
                <a:solidFill>
                  <a:srgbClr val="5A5A5A"/>
                </a:solidFill>
                <a:latin typeface="Courier New"/>
              </a:rPr>
              <a:t>edaiosv/docs/demos/edaios-operating-system.html</a:t>
            </a:r>
          </a:p>
        </p:txBody>
      </p:sp>
      <p:sp>
        <p:nvSpPr>
          <p:cNvPr id="98" name="TextBox 97"/>
          <p:cNvSpPr txBox="1"/>
          <p:nvPr/>
        </p:nvSpPr>
        <p:spPr>
          <a:xfrm>
            <a:off x="4892040" y="2395728"/>
            <a:ext cx="3566160" cy="502920"/>
          </a:xfrm>
          <a:prstGeom prst="rect">
            <a:avLst/>
          </a:prstGeom>
          <a:noFill/>
        </p:spPr>
        <p:txBody>
          <a:bodyPr wrap="square" anchor="t" lIns="0" rIns="0" tIns="0" bIns="0">
            <a:spAutoFit/>
          </a:bodyPr>
          <a:lstStyle/>
          <a:p>
            <a:pPr algn="l"/>
            <a:r>
              <a:rPr sz="1100" b="0">
                <a:solidFill>
                  <a:srgbClr val="262626"/>
                </a:solidFill>
                <a:latin typeface="Arial"/>
              </a:rPr>
              <a:t>Vista regenerable — derivado determinista;</a:t>
            </a:r>
          </a:p>
          <a:p>
            <a:pPr algn="l"/>
            <a:r>
              <a:rPr sz="1100" b="0">
                <a:solidFill>
                  <a:srgbClr val="262626"/>
                </a:solidFill>
                <a:latin typeface="Arial"/>
              </a:rPr>
              <a:t>no se edita a mano.</a:t>
            </a:r>
          </a:p>
        </p:txBody>
      </p:sp>
      <p:sp>
        <p:nvSpPr>
          <p:cNvPr id="99" name="TextBox 98"/>
          <p:cNvSpPr txBox="1"/>
          <p:nvPr/>
        </p:nvSpPr>
        <p:spPr>
          <a:xfrm>
            <a:off x="4892040" y="3017520"/>
            <a:ext cx="3566160" cy="502920"/>
          </a:xfrm>
          <a:prstGeom prst="rect">
            <a:avLst/>
          </a:prstGeom>
          <a:noFill/>
        </p:spPr>
        <p:txBody>
          <a:bodyPr wrap="square" anchor="t" lIns="0" rIns="0" tIns="0" bIns="0">
            <a:spAutoFit/>
          </a:bodyPr>
          <a:lstStyle/>
          <a:p>
            <a:pPr algn="l"/>
            <a:r>
              <a:rPr sz="1100" b="1">
                <a:solidFill>
                  <a:srgbClr val="262626"/>
                </a:solidFill>
                <a:latin typeface="Arial"/>
              </a:rPr>
              <a:t>Versión completa y paginada: anexo A1</a:t>
            </a:r>
          </a:p>
          <a:p>
            <a:pPr algn="l"/>
            <a:r>
              <a:rPr sz="1100" b="1">
                <a:solidFill>
                  <a:srgbClr val="262626"/>
                </a:solidFill>
                <a:latin typeface="Arial"/>
              </a:rPr>
              <a:t>del PDF (kcd2026-completo.pdf).</a:t>
            </a:r>
          </a:p>
        </p:txBody>
      </p:sp>
      <p:sp>
        <p:nvSpPr>
          <p:cNvPr id="100" name="TextBox 99"/>
          <p:cNvSpPr txBox="1"/>
          <p:nvPr/>
        </p:nvSpPr>
        <p:spPr>
          <a:xfrm>
            <a:off x="4892040" y="3639312"/>
            <a:ext cx="3566160" cy="548640"/>
          </a:xfrm>
          <a:prstGeom prst="rect">
            <a:avLst/>
          </a:prstGeom>
          <a:noFill/>
        </p:spPr>
        <p:txBody>
          <a:bodyPr wrap="square" anchor="t" lIns="0" rIns="0" tIns="0" bIns="0">
            <a:spAutoFit/>
          </a:bodyPr>
          <a:lstStyle/>
          <a:p>
            <a:pPr algn="l"/>
            <a:r>
              <a:rPr sz="1000" b="0">
                <a:solidFill>
                  <a:srgbClr val="5A5A5A"/>
                </a:solidFill>
                <a:latin typeface="Arial"/>
              </a:rPr>
              <a:t>Constitución, 15 ADR, gates y catálogo de Core,</a:t>
            </a:r>
          </a:p>
          <a:p>
            <a:pPr algn="l"/>
            <a:r>
              <a:rPr sz="1000" b="0">
                <a:solidFill>
                  <a:srgbClr val="5A5A5A"/>
                </a:solidFill>
                <a:latin typeface="Arial"/>
              </a:rPr>
              <a:t>tal como los proyecta el baseline day-zero.</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000" b="1">
                <a:solidFill>
                  <a:srgbClr val="262626"/>
                </a:solidFill>
                <a:latin typeface="Arial"/>
              </a:rPr>
              <a:t>EDAIOS aplicado: la demo Flink hereda el gobierno de Core</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Anexo A2 del PDF entregable — vista completa, texto seleccionable</a:t>
            </a:r>
          </a:p>
        </p:txBody>
      </p:sp>
      <p:pic>
        <p:nvPicPr>
          <p:cNvPr id="93" name="Picture 92" descr="preview-a2.png"/>
          <p:cNvPicPr>
            <a:picLocks noChangeAspect="1"/>
          </p:cNvPicPr>
          <p:nvPr/>
        </p:nvPicPr>
        <p:blipFill>
          <a:blip r:embed="rId2"/>
          <a:stretch>
            <a:fillRect/>
          </a:stretch>
        </p:blipFill>
        <p:spPr>
          <a:xfrm>
            <a:off x="1325880" y="1554480"/>
            <a:ext cx="2261062" cy="2926080"/>
          </a:xfrm>
          <a:prstGeom prst="rect">
            <a:avLst/>
          </a:prstGeom>
        </p:spPr>
      </p:pic>
      <p:sp>
        <p:nvSpPr>
          <p:cNvPr id="94" name="Rectangle 93"/>
          <p:cNvSpPr/>
          <p:nvPr/>
        </p:nvSpPr>
        <p:spPr>
          <a:xfrm>
            <a:off x="1325880" y="1554480"/>
            <a:ext cx="2261062" cy="2926080"/>
          </a:xfrm>
          <a:prstGeom prst="rect">
            <a:avLst/>
          </a:prstGeom>
          <a:no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5" name="Rounded Rectangle 94"/>
          <p:cNvSpPr/>
          <p:nvPr/>
        </p:nvSpPr>
        <p:spPr>
          <a:xfrm>
            <a:off x="4709160" y="1554480"/>
            <a:ext cx="3931920" cy="2743200"/>
          </a:xfrm>
          <a:prstGeom prst="roundRect">
            <a:avLst>
              <a:gd name="adj" fmla="val 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6" name="TextBox 95"/>
          <p:cNvSpPr txBox="1"/>
          <p:nvPr/>
        </p:nvSpPr>
        <p:spPr>
          <a:xfrm>
            <a:off x="4892040" y="1719072"/>
            <a:ext cx="3566160" cy="256032"/>
          </a:xfrm>
          <a:prstGeom prst="rect">
            <a:avLst/>
          </a:prstGeom>
          <a:noFill/>
        </p:spPr>
        <p:txBody>
          <a:bodyPr wrap="square" anchor="t" lIns="0" rIns="0" tIns="0" bIns="0">
            <a:spAutoFit/>
          </a:bodyPr>
          <a:lstStyle/>
          <a:p>
            <a:pPr algn="l"/>
            <a:r>
              <a:rPr sz="1200" b="1">
                <a:solidFill>
                  <a:srgbClr val="262626"/>
                </a:solidFill>
                <a:latin typeface="Arial"/>
              </a:rPr>
              <a:t>Fuente</a:t>
            </a:r>
          </a:p>
        </p:txBody>
      </p:sp>
      <p:sp>
        <p:nvSpPr>
          <p:cNvPr id="97" name="TextBox 96"/>
          <p:cNvSpPr txBox="1"/>
          <p:nvPr/>
        </p:nvSpPr>
        <p:spPr>
          <a:xfrm>
            <a:off x="4892040" y="1993392"/>
            <a:ext cx="3566160" cy="320040"/>
          </a:xfrm>
          <a:prstGeom prst="rect">
            <a:avLst/>
          </a:prstGeom>
          <a:noFill/>
        </p:spPr>
        <p:txBody>
          <a:bodyPr wrap="square" anchor="t" lIns="0" rIns="0" tIns="0" bIns="0">
            <a:spAutoFit/>
          </a:bodyPr>
          <a:lstStyle/>
          <a:p>
            <a:pPr algn="l"/>
            <a:r>
              <a:rPr sz="900" b="0">
                <a:solidFill>
                  <a:srgbClr val="5A5A5A"/>
                </a:solidFill>
                <a:latin typeface="Courier New"/>
              </a:rPr>
              <a:t>data-kcd2026/docs/flink-sobre-edaios.html</a:t>
            </a:r>
          </a:p>
        </p:txBody>
      </p:sp>
      <p:sp>
        <p:nvSpPr>
          <p:cNvPr id="98" name="TextBox 97"/>
          <p:cNvSpPr txBox="1"/>
          <p:nvPr/>
        </p:nvSpPr>
        <p:spPr>
          <a:xfrm>
            <a:off x="4892040" y="2395728"/>
            <a:ext cx="3566160" cy="502920"/>
          </a:xfrm>
          <a:prstGeom prst="rect">
            <a:avLst/>
          </a:prstGeom>
          <a:noFill/>
        </p:spPr>
        <p:txBody>
          <a:bodyPr wrap="square" anchor="t" lIns="0" rIns="0" tIns="0" bIns="0">
            <a:spAutoFit/>
          </a:bodyPr>
          <a:lstStyle/>
          <a:p>
            <a:pPr algn="l"/>
            <a:r>
              <a:rPr sz="1100" b="0">
                <a:solidFill>
                  <a:srgbClr val="262626"/>
                </a:solidFill>
                <a:latin typeface="Arial"/>
              </a:rPr>
              <a:t>Vista regenerable — derivado determinista;</a:t>
            </a:r>
          </a:p>
          <a:p>
            <a:pPr algn="l"/>
            <a:r>
              <a:rPr sz="1100" b="0">
                <a:solidFill>
                  <a:srgbClr val="262626"/>
                </a:solidFill>
                <a:latin typeface="Arial"/>
              </a:rPr>
              <a:t>no se edita a mano.</a:t>
            </a:r>
          </a:p>
        </p:txBody>
      </p:sp>
      <p:sp>
        <p:nvSpPr>
          <p:cNvPr id="99" name="TextBox 98"/>
          <p:cNvSpPr txBox="1"/>
          <p:nvPr/>
        </p:nvSpPr>
        <p:spPr>
          <a:xfrm>
            <a:off x="4892040" y="3017520"/>
            <a:ext cx="3566160" cy="502920"/>
          </a:xfrm>
          <a:prstGeom prst="rect">
            <a:avLst/>
          </a:prstGeom>
          <a:noFill/>
        </p:spPr>
        <p:txBody>
          <a:bodyPr wrap="square" anchor="t" lIns="0" rIns="0" tIns="0" bIns="0">
            <a:spAutoFit/>
          </a:bodyPr>
          <a:lstStyle/>
          <a:p>
            <a:pPr algn="l"/>
            <a:r>
              <a:rPr sz="1100" b="1">
                <a:solidFill>
                  <a:srgbClr val="262626"/>
                </a:solidFill>
                <a:latin typeface="Arial"/>
              </a:rPr>
              <a:t>Versión completa y paginada: anexo A2</a:t>
            </a:r>
          </a:p>
          <a:p>
            <a:pPr algn="l"/>
            <a:r>
              <a:rPr sz="1100" b="1">
                <a:solidFill>
                  <a:srgbClr val="262626"/>
                </a:solidFill>
                <a:latin typeface="Arial"/>
              </a:rPr>
              <a:t>del PDF (kcd2026-completo.pdf).</a:t>
            </a:r>
          </a:p>
        </p:txBody>
      </p:sp>
      <p:sp>
        <p:nvSpPr>
          <p:cNvPr id="100" name="TextBox 99"/>
          <p:cNvSpPr txBox="1"/>
          <p:nvPr/>
        </p:nvSpPr>
        <p:spPr>
          <a:xfrm>
            <a:off x="4892040" y="3639312"/>
            <a:ext cx="3566160" cy="548640"/>
          </a:xfrm>
          <a:prstGeom prst="rect">
            <a:avLst/>
          </a:prstGeom>
          <a:noFill/>
        </p:spPr>
        <p:txBody>
          <a:bodyPr wrap="square" anchor="t" lIns="0" rIns="0" tIns="0" bIns="0">
            <a:spAutoFit/>
          </a:bodyPr>
          <a:lstStyle/>
          <a:p>
            <a:pPr algn="l"/>
            <a:r>
              <a:rPr sz="1000" b="0">
                <a:solidFill>
                  <a:srgbClr val="5A5A5A"/>
                </a:solidFill>
                <a:latin typeface="Arial"/>
              </a:rPr>
              <a:t>Los anillos del OS de conocimiento, las syscalls,</a:t>
            </a:r>
          </a:p>
          <a:p>
            <a:pPr algn="l"/>
            <a:r>
              <a:rPr sz="1000" b="0">
                <a:solidFill>
                  <a:srgbClr val="5A5A5A"/>
                </a:solidFill>
                <a:latin typeface="Arial"/>
              </a:rPr>
              <a:t>y los dos kernels: gobierno advisory, build ineludible.</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000" b="1">
                <a:solidFill>
                  <a:srgbClr val="262626"/>
                </a:solidFill>
                <a:latin typeface="Arial"/>
              </a:rPr>
              <a:t>El caso Flink completo: contrato, canary, evidencia</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Anexo A3 del PDF entregable — vista completa, texto seleccionable</a:t>
            </a:r>
          </a:p>
        </p:txBody>
      </p:sp>
      <p:pic>
        <p:nvPicPr>
          <p:cNvPr id="93" name="Picture 92" descr="preview-a3.png"/>
          <p:cNvPicPr>
            <a:picLocks noChangeAspect="1"/>
          </p:cNvPicPr>
          <p:nvPr/>
        </p:nvPicPr>
        <p:blipFill>
          <a:blip r:embed="rId2"/>
          <a:stretch>
            <a:fillRect/>
          </a:stretch>
        </p:blipFill>
        <p:spPr>
          <a:xfrm>
            <a:off x="1325880" y="1554480"/>
            <a:ext cx="2261062" cy="2926080"/>
          </a:xfrm>
          <a:prstGeom prst="rect">
            <a:avLst/>
          </a:prstGeom>
        </p:spPr>
      </p:pic>
      <p:sp>
        <p:nvSpPr>
          <p:cNvPr id="94" name="Rectangle 93"/>
          <p:cNvSpPr/>
          <p:nvPr/>
        </p:nvSpPr>
        <p:spPr>
          <a:xfrm>
            <a:off x="1325880" y="1554480"/>
            <a:ext cx="2261062" cy="2926080"/>
          </a:xfrm>
          <a:prstGeom prst="rect">
            <a:avLst/>
          </a:prstGeom>
          <a:no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5" name="Rounded Rectangle 94"/>
          <p:cNvSpPr/>
          <p:nvPr/>
        </p:nvSpPr>
        <p:spPr>
          <a:xfrm>
            <a:off x="4709160" y="1554480"/>
            <a:ext cx="3931920" cy="2743200"/>
          </a:xfrm>
          <a:prstGeom prst="roundRect">
            <a:avLst>
              <a:gd name="adj" fmla="val 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6" name="TextBox 95"/>
          <p:cNvSpPr txBox="1"/>
          <p:nvPr/>
        </p:nvSpPr>
        <p:spPr>
          <a:xfrm>
            <a:off x="4892040" y="1719072"/>
            <a:ext cx="3566160" cy="256032"/>
          </a:xfrm>
          <a:prstGeom prst="rect">
            <a:avLst/>
          </a:prstGeom>
          <a:noFill/>
        </p:spPr>
        <p:txBody>
          <a:bodyPr wrap="square" anchor="t" lIns="0" rIns="0" tIns="0" bIns="0">
            <a:spAutoFit/>
          </a:bodyPr>
          <a:lstStyle/>
          <a:p>
            <a:pPr algn="l"/>
            <a:r>
              <a:rPr sz="1200" b="1">
                <a:solidFill>
                  <a:srgbClr val="262626"/>
                </a:solidFill>
                <a:latin typeface="Arial"/>
              </a:rPr>
              <a:t>Fuente</a:t>
            </a:r>
          </a:p>
        </p:txBody>
      </p:sp>
      <p:sp>
        <p:nvSpPr>
          <p:cNvPr id="97" name="TextBox 96"/>
          <p:cNvSpPr txBox="1"/>
          <p:nvPr/>
        </p:nvSpPr>
        <p:spPr>
          <a:xfrm>
            <a:off x="4892040" y="1993392"/>
            <a:ext cx="3566160" cy="320040"/>
          </a:xfrm>
          <a:prstGeom prst="rect">
            <a:avLst/>
          </a:prstGeom>
          <a:noFill/>
        </p:spPr>
        <p:txBody>
          <a:bodyPr wrap="square" anchor="t" lIns="0" rIns="0" tIns="0" bIns="0">
            <a:spAutoFit/>
          </a:bodyPr>
          <a:lstStyle/>
          <a:p>
            <a:pPr algn="l"/>
            <a:r>
              <a:rPr sz="900" b="0">
                <a:solidFill>
                  <a:srgbClr val="5A5A5A"/>
                </a:solidFill>
                <a:latin typeface="Courier New"/>
              </a:rPr>
              <a:t>data-kcd2026/docs/usecase-001-sobre-edaios.html</a:t>
            </a:r>
          </a:p>
        </p:txBody>
      </p:sp>
      <p:sp>
        <p:nvSpPr>
          <p:cNvPr id="98" name="TextBox 97"/>
          <p:cNvSpPr txBox="1"/>
          <p:nvPr/>
        </p:nvSpPr>
        <p:spPr>
          <a:xfrm>
            <a:off x="4892040" y="2395728"/>
            <a:ext cx="3566160" cy="502920"/>
          </a:xfrm>
          <a:prstGeom prst="rect">
            <a:avLst/>
          </a:prstGeom>
          <a:noFill/>
        </p:spPr>
        <p:txBody>
          <a:bodyPr wrap="square" anchor="t" lIns="0" rIns="0" tIns="0" bIns="0">
            <a:spAutoFit/>
          </a:bodyPr>
          <a:lstStyle/>
          <a:p>
            <a:pPr algn="l"/>
            <a:r>
              <a:rPr sz="1100" b="0">
                <a:solidFill>
                  <a:srgbClr val="262626"/>
                </a:solidFill>
                <a:latin typeface="Arial"/>
              </a:rPr>
              <a:t>Vista regenerable — derivado determinista;</a:t>
            </a:r>
          </a:p>
          <a:p>
            <a:pPr algn="l"/>
            <a:r>
              <a:rPr sz="1100" b="0">
                <a:solidFill>
                  <a:srgbClr val="262626"/>
                </a:solidFill>
                <a:latin typeface="Arial"/>
              </a:rPr>
              <a:t>no se edita a mano.</a:t>
            </a:r>
          </a:p>
        </p:txBody>
      </p:sp>
      <p:sp>
        <p:nvSpPr>
          <p:cNvPr id="99" name="TextBox 98"/>
          <p:cNvSpPr txBox="1"/>
          <p:nvPr/>
        </p:nvSpPr>
        <p:spPr>
          <a:xfrm>
            <a:off x="4892040" y="3017520"/>
            <a:ext cx="3566160" cy="502920"/>
          </a:xfrm>
          <a:prstGeom prst="rect">
            <a:avLst/>
          </a:prstGeom>
          <a:noFill/>
        </p:spPr>
        <p:txBody>
          <a:bodyPr wrap="square" anchor="t" lIns="0" rIns="0" tIns="0" bIns="0">
            <a:spAutoFit/>
          </a:bodyPr>
          <a:lstStyle/>
          <a:p>
            <a:pPr algn="l"/>
            <a:r>
              <a:rPr sz="1100" b="1">
                <a:solidFill>
                  <a:srgbClr val="262626"/>
                </a:solidFill>
                <a:latin typeface="Arial"/>
              </a:rPr>
              <a:t>Versión completa y paginada: anexo A3</a:t>
            </a:r>
          </a:p>
          <a:p>
            <a:pPr algn="l"/>
            <a:r>
              <a:rPr sz="1100" b="1">
                <a:solidFill>
                  <a:srgbClr val="262626"/>
                </a:solidFill>
                <a:latin typeface="Arial"/>
              </a:rPr>
              <a:t>del PDF (kcd2026-completo.pdf).</a:t>
            </a:r>
          </a:p>
        </p:txBody>
      </p:sp>
      <p:sp>
        <p:nvSpPr>
          <p:cNvPr id="100" name="TextBox 99"/>
          <p:cNvSpPr txBox="1"/>
          <p:nvPr/>
        </p:nvSpPr>
        <p:spPr>
          <a:xfrm>
            <a:off x="4892040" y="3639312"/>
            <a:ext cx="3566160" cy="548640"/>
          </a:xfrm>
          <a:prstGeom prst="rect">
            <a:avLst/>
          </a:prstGeom>
          <a:noFill/>
        </p:spPr>
        <p:txBody>
          <a:bodyPr wrap="square" anchor="t" lIns="0" rIns="0" tIns="0" bIns="0">
            <a:spAutoFit/>
          </a:bodyPr>
          <a:lstStyle/>
          <a:p>
            <a:pPr algn="l"/>
            <a:r>
              <a:rPr sz="1000" b="0">
                <a:solidFill>
                  <a:srgbClr val="5A5A5A"/>
                </a:solidFill>
                <a:latin typeface="Arial"/>
              </a:rPr>
              <a:t>La traza de la feature 001: doce syscalls, el canary</a:t>
            </a:r>
          </a:p>
          <a:p>
            <a:pPr algn="l"/>
            <a:r>
              <a:rPr sz="1000" b="0">
                <a:solidFill>
                  <a:srgbClr val="5A5A5A"/>
                </a:solidFill>
                <a:latin typeface="Arial"/>
              </a:rPr>
              <a:t>interactivo en rojo y el expediente de evidencia.</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engram: la memoria de la sesión</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Anexo A5 · captura del owner de la TUI de engram</a:t>
            </a:r>
          </a:p>
        </p:txBody>
      </p:sp>
      <p:sp>
        <p:nvSpPr>
          <p:cNvPr id="93" name="TextBox 92"/>
          <p:cNvSpPr txBox="1"/>
          <p:nvPr/>
        </p:nvSpPr>
        <p:spPr>
          <a:xfrm>
            <a:off x="502920" y="1600200"/>
            <a:ext cx="2697480" cy="2103120"/>
          </a:xfrm>
          <a:prstGeom prst="rect">
            <a:avLst/>
          </a:prstGeom>
          <a:noFill/>
        </p:spPr>
        <p:txBody>
          <a:bodyPr wrap="square" anchor="t" lIns="0" rIns="0" tIns="0" bIns="0">
            <a:spAutoFit/>
          </a:bodyPr>
          <a:lstStyle/>
          <a:p>
            <a:pPr algn="l"/>
            <a:r>
              <a:rPr sz="1100" b="0">
                <a:solidFill>
                  <a:srgbClr val="262626"/>
                </a:solidFill>
                <a:latin typeface="Arial"/>
              </a:rPr>
              <a:t>Ocho observaciones guardadas por la sesión de construcción: el gobierno demostrándose, el canary en rojo, los bugs y las decisiones.</a:t>
            </a:r>
          </a:p>
          <a:p>
            <a:pPr algn="l"/>
            <a:r>
              <a:rPr sz="1100" b="0">
                <a:solidFill>
                  <a:srgbClr val="262626"/>
                </a:solidFill>
                <a:latin typeface="Arial"/>
              </a:rPr>
              <a:t/>
            </a:r>
          </a:p>
          <a:p>
            <a:pPr algn="l"/>
            <a:r>
              <a:rPr sz="1100" b="0">
                <a:solidFill>
                  <a:srgbClr val="262626"/>
                </a:solidFill>
                <a:latin typeface="Arial"/>
              </a:rPr>
              <a:t>Memoria persistente: el contexto sobrevive a la sesión que lo escribió.</a:t>
            </a:r>
          </a:p>
        </p:txBody>
      </p:sp>
      <p:pic>
        <p:nvPicPr>
          <p:cNvPr id="94" name="Picture 93" descr="Engram-Logs.png"/>
          <p:cNvPicPr>
            <a:picLocks noChangeAspect="1"/>
          </p:cNvPicPr>
          <p:nvPr/>
        </p:nvPicPr>
        <p:blipFill>
          <a:blip r:embed="rId2"/>
          <a:stretch>
            <a:fillRect/>
          </a:stretch>
        </p:blipFill>
        <p:spPr>
          <a:xfrm>
            <a:off x="3474720" y="1481328"/>
            <a:ext cx="4572000" cy="2665141"/>
          </a:xfrm>
          <a:prstGeom prst="rect">
            <a:avLst/>
          </a:prstGeom>
        </p:spPr>
      </p:pic>
      <p:sp>
        <p:nvSpPr>
          <p:cNvPr id="95" name="Rectangle 94"/>
          <p:cNvSpPr/>
          <p:nvPr/>
        </p:nvSpPr>
        <p:spPr>
          <a:xfrm>
            <a:off x="3474720" y="1481328"/>
            <a:ext cx="4572000" cy="2665141"/>
          </a:xfrm>
          <a:prstGeom prst="rect">
            <a:avLst/>
          </a:prstGeom>
          <a:no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4"/>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91" name="TextBox 90"/>
          <p:cNvSpPr txBox="1"/>
          <p:nvPr/>
        </p:nvSpPr>
        <p:spPr>
          <a:xfrm>
            <a:off x="502920" y="685800"/>
            <a:ext cx="8138160" cy="411480"/>
          </a:xfrm>
          <a:prstGeom prst="rect">
            <a:avLst/>
          </a:prstGeom>
          <a:noFill/>
        </p:spPr>
        <p:txBody>
          <a:bodyPr wrap="square" anchor="t" lIns="0" rIns="0" tIns="0" bIns="0">
            <a:spAutoFit/>
          </a:bodyPr>
          <a:lstStyle/>
          <a:p>
            <a:pPr algn="l"/>
            <a:r>
              <a:rPr sz="2500" b="1">
                <a:solidFill>
                  <a:srgbClr val="262626"/>
                </a:solidFill>
                <a:latin typeface="Arial"/>
              </a:rPr>
              <a:t>engram: la tesis, guardada</a:t>
            </a:r>
          </a:p>
        </p:txBody>
      </p:sp>
      <p:sp>
        <p:nvSpPr>
          <p:cNvPr id="92" name="TextBox 91"/>
          <p:cNvSpPr txBox="1"/>
          <p:nvPr/>
        </p:nvSpPr>
        <p:spPr>
          <a:xfrm>
            <a:off x="502920" y="1115568"/>
            <a:ext cx="8138160" cy="274320"/>
          </a:xfrm>
          <a:prstGeom prst="rect">
            <a:avLst/>
          </a:prstGeom>
          <a:noFill/>
        </p:spPr>
        <p:txBody>
          <a:bodyPr wrap="square" anchor="t" lIns="0" rIns="0" tIns="0" bIns="0">
            <a:spAutoFit/>
          </a:bodyPr>
          <a:lstStyle/>
          <a:p>
            <a:pPr algn="l"/>
            <a:r>
              <a:rPr sz="1200" b="0">
                <a:solidFill>
                  <a:srgbClr val="5A5A5A"/>
                </a:solidFill>
                <a:latin typeface="Arial"/>
              </a:rPr>
              <a:t>Anexo A5 · captura del owner de la TUI de engram</a:t>
            </a:r>
          </a:p>
        </p:txBody>
      </p:sp>
      <p:pic>
        <p:nvPicPr>
          <p:cNvPr id="93" name="Picture 92" descr="Engram-Logs-ID.png"/>
          <p:cNvPicPr>
            <a:picLocks noChangeAspect="1"/>
          </p:cNvPicPr>
          <p:nvPr/>
        </p:nvPicPr>
        <p:blipFill>
          <a:blip r:embed="rId2"/>
          <a:stretch>
            <a:fillRect/>
          </a:stretch>
        </p:blipFill>
        <p:spPr>
          <a:xfrm>
            <a:off x="2606040" y="1481328"/>
            <a:ext cx="5440680" cy="2615957"/>
          </a:xfrm>
          <a:prstGeom prst="rect">
            <a:avLst/>
          </a:prstGeom>
        </p:spPr>
      </p:pic>
      <p:sp>
        <p:nvSpPr>
          <p:cNvPr id="94" name="Rectangle 93"/>
          <p:cNvSpPr/>
          <p:nvPr/>
        </p:nvSpPr>
        <p:spPr>
          <a:xfrm>
            <a:off x="2606040" y="1481328"/>
            <a:ext cx="5440680" cy="2615957"/>
          </a:xfrm>
          <a:prstGeom prst="rect">
            <a:avLst/>
          </a:prstGeom>
          <a:no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5" name="TextBox 94"/>
          <p:cNvSpPr txBox="1"/>
          <p:nvPr/>
        </p:nvSpPr>
        <p:spPr>
          <a:xfrm>
            <a:off x="2606040" y="4207013"/>
            <a:ext cx="5440680" cy="365760"/>
          </a:xfrm>
          <a:prstGeom prst="rect">
            <a:avLst/>
          </a:prstGeom>
          <a:noFill/>
        </p:spPr>
        <p:txBody>
          <a:bodyPr wrap="square" anchor="t" lIns="0" rIns="0" tIns="0" bIns="0">
            <a:spAutoFit/>
          </a:bodyPr>
          <a:lstStyle/>
          <a:p>
            <a:pPr algn="l"/>
            <a:r>
              <a:rPr sz="1000" b="1">
                <a:solidFill>
                  <a:srgbClr val="5A5A5A"/>
                </a:solidFill>
                <a:latin typeface="Arial"/>
              </a:rPr>
              <a:t>Observación de la sesión de construcción: </a:t>
            </a:r>
            <a:r>
              <a:rPr sz="1000" b="0">
                <a:solidFill>
                  <a:srgbClr val="5A5A5A"/>
                </a:solidFill>
                <a:latin typeface="Arial"/>
              </a:rPr>
              <a:t>“Implementada feature 001: canary de deriva Avro funcionando en 4s”.</a:t>
            </a:r>
          </a:p>
          <a:p>
            <a:pPr algn="l"/>
            <a:r>
              <a:rPr sz="1000" b="1">
                <a:solidFill>
                  <a:srgbClr val="5A5A5A"/>
                </a:solidFill>
                <a:latin typeface="Arial"/>
              </a:rPr>
              <a:t>La memoria del proyecto conserva el What / Why / </a:t>
            </a:r>
            <a:r>
              <a:rPr sz="1000" b="0">
                <a:solidFill>
                  <a:srgbClr val="5A5A5A"/>
                </a:solidFill>
                <a:latin typeface="Arial"/>
              </a:rPr>
              <a:t>Learned de cada decisión — entre sesiones.</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chemeClr val="dk1"/>
                </a:solidFill>
                <a:latin typeface="Arial"/>
                <a:ea typeface="Google Sans"/>
                <a:cs typeface="Google Sans"/>
                <a:sym typeface="Google Sans"/>
              </a:rPr>
              <a:t>Out-of-the-box</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600200"/>
            <a:ext cx="393192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Un comando: inject-consumer.sh — 4 capas, idempotente</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59 archivos de gobierno materializados en el módulo</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12 skills de agente + workflow con 3 checkpoints humanos</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Gate vendorizado con procedencia: 43 checks listos</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0 servicios nuevos · 0 líneas de tu build tocadas</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4709160" y="1600200"/>
            <a:ext cx="3931920" cy="320040"/>
          </a:xfrm>
          <a:prstGeom prst="rect">
            <a:avLst/>
          </a:prstGeom>
          <a:noFill/>
        </p:spPr>
        <p:txBody>
          <a:bodyPr wrap="square" anchor="t" lIns="0" rIns="0" tIns="0" bIns="0">
            <a:spAutoFit/>
          </a:bodyPr>
          <a:lstStyle/>
          <a:p>
            <a:pPr algn="l"/>
            <a:r>
              <a:rPr sz="1200" b="1">
                <a:solidFill>
                  <a:srgbClr val="FFFFFF"/>
                </a:solidFill>
                <a:latin typeface="Arial"/>
              </a:rPr>
              <a:t>Lo que NO tuvimos que construir</a:t>
            </a:r>
          </a:p>
        </p:txBody>
      </p:sp>
      <p:sp>
        <p:nvSpPr>
          <p:cNvPr id="105" name="TextBox 104"/>
          <p:cNvSpPr txBox="1"/>
          <p:nvPr/>
        </p:nvSpPr>
        <p:spPr>
          <a:xfrm>
            <a:off x="4709160" y="2011680"/>
            <a:ext cx="3931920" cy="2011680"/>
          </a:xfrm>
          <a:prstGeom prst="rect">
            <a:avLst/>
          </a:prstGeom>
          <a:noFill/>
        </p:spPr>
        <p:txBody>
          <a:bodyPr wrap="square" anchor="t" lIns="0" rIns="0" tIns="0" bIns="0">
            <a:spAutoFit/>
          </a:bodyPr>
          <a:lstStyle/>
          <a:p>
            <a:pPr algn="l"/>
            <a:r>
              <a:rPr sz="1100" b="0">
                <a:solidFill>
                  <a:srgbClr val="FFFFFF"/>
                </a:solidFill>
                <a:latin typeface="Arial"/>
              </a:rPr>
              <a:t>Ni el ciclo SDD, ni las plantillas, ni el</a:t>
            </a:r>
          </a:p>
          <a:p>
            <a:pPr algn="l"/>
            <a:r>
              <a:rPr sz="1100" b="0">
                <a:solidFill>
                  <a:srgbClr val="FFFFFF"/>
                </a:solidFill>
                <a:latin typeface="Arial"/>
              </a:rPr>
              <a:t>gate, ni la constitución: llegan proyectados</a:t>
            </a:r>
          </a:p>
          <a:p>
            <a:pPr algn="l"/>
            <a:r>
              <a:rPr sz="1100" b="0">
                <a:solidFill>
                  <a:srgbClr val="FFFFFF"/>
                </a:solidFill>
                <a:latin typeface="Arial"/>
              </a:rPr>
              <a:t>desde Core y quedan pineados por sha256.</a:t>
            </a:r>
          </a:p>
          <a:p>
            <a:pPr algn="l"/>
            <a:r>
              <a:rPr sz="1100" b="0">
                <a:solidFill>
                  <a:srgbClr val="FFFFFF"/>
                </a:solidFill>
                <a:latin typeface="Arial"/>
              </a:rPr>
              <a:t/>
            </a:r>
          </a:p>
          <a:p>
            <a:pPr algn="l"/>
            <a:r>
              <a:rPr sz="1100" b="0">
                <a:solidFill>
                  <a:srgbClr val="FFFFFF"/>
                </a:solidFill>
                <a:latin typeface="Arial"/>
              </a:rPr>
              <a:t>El módulo empezó a especificar en minutos:</a:t>
            </a:r>
          </a:p>
          <a:p>
            <a:pPr algn="l"/>
            <a:r>
              <a:rPr sz="1100" b="0">
                <a:solidFill>
                  <a:srgbClr val="FFFFFF"/>
                </a:solidFill>
                <a:latin typeface="Arial"/>
              </a:rPr>
              <a:t>la feature 001 pasó el gate el mismo día.</a:t>
            </a:r>
          </a:p>
          <a:p>
            <a:pPr algn="l"/>
            <a:r>
              <a:rPr sz="1100" b="0">
                <a:solidFill>
                  <a:srgbClr val="FFFFFF"/>
                </a:solidFill>
                <a:latin typeface="Arial"/>
              </a:rPr>
              <a:t/>
            </a:r>
          </a:p>
          <a:p>
            <a:pPr algn="l"/>
            <a:r>
              <a:rPr sz="1100" b="0">
                <a:solidFill>
                  <a:srgbClr val="FFFFFF"/>
                </a:solidFill>
                <a:latin typeface="Arial"/>
              </a:rPr>
              <a:t>Re-ejecutar el inject no rompe nada:</a:t>
            </a:r>
          </a:p>
          <a:p>
            <a:pPr algn="l"/>
            <a:r>
              <a:rPr sz="1100" b="0">
                <a:solidFill>
                  <a:srgbClr val="FFFFFF"/>
                </a:solidFill>
                <a:latin typeface="Arial"/>
              </a:rPr>
              <a:t>es idempotente y fail-closed.</a:t>
            </a: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chemeClr val="dk1"/>
                </a:solidFill>
                <a:latin typeface="Arial"/>
                <a:ea typeface="Google Sans"/>
                <a:cs typeface="Google Sans"/>
                <a:sym typeface="Google Sans"/>
              </a:rPr>
              <a:t>El gobierno heredado</a:t>
            </a:r>
            <a:endParaRPr b="1" sz="3000">
              <a:solidFill>
                <a:schemeClr val="dk1"/>
              </a:solidFill>
              <a:latin typeface="Google Sans"/>
              <a:ea typeface="Google Sans"/>
              <a:cs typeface="Google Sans"/>
              <a:sym typeface="Google Sans"/>
            </a:endParaRPr>
          </a:p>
        </p:txBody>
      </p:sp>
      <p:sp>
        <p:nvSpPr>
          <p:cNvPr id="102" name="Google Shape;102;p26"/>
          <p:cNvSpPr txBox="1"/>
          <p:nvPr/>
        </p:nvSpPr>
        <p:spPr>
          <a:xfrm>
            <a:off x="593975" y="1600200"/>
            <a:ext cx="3931920" cy="2124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Constitución: 7 artículos proyectados, pin sha256 verificado por el gate</a:t>
            </a:r>
            <a:endParaRPr sz="1800">
              <a:solidFill>
                <a:schemeClr val="dk1"/>
              </a:solidFill>
              <a:latin typeface="Google Sans"/>
              <a:ea typeface="Google Sans"/>
              <a:cs typeface="Google Sans"/>
              <a:sym typeface="Google Sans"/>
            </a:endParaRP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Sensibilidad T0: sin PII, sin red externa, sin datos productivos</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Autoridad: owner ≠ value-owner; solo el owner aprueba</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Ciclo de vida: fase × estado — implemented exige Cerrado</a:t>
            </a:r>
          </a:p>
          <a:p>
            <a:pPr indent="-342900" lvl="0" marL="457200" rtl="0" algn="l">
              <a:lnSpc>
                <a:spcPct val="150000"/>
              </a:lnSpc>
              <a:spcBef>
                <a:spcPts val="0"/>
              </a:spcBef>
              <a:spcAft>
                <a:spcPts val="0"/>
              </a:spcAft>
              <a:buClr>
                <a:schemeClr val="dk1"/>
              </a:buClr>
              <a:buSzPts val="1800"/>
              <a:buFont typeface="Google Sans"/>
              <a:buAutoNum type="arabicPeriod"/>
            </a:pPr>
            <a:r>
              <a:rPr lang="en" sz="1300">
                <a:solidFill>
                  <a:schemeClr val="dk1"/>
                </a:solidFill>
                <a:latin typeface="Arial"/>
                <a:ea typeface="Google Sans"/>
                <a:cs typeface="Google Sans"/>
                <a:sym typeface="Google Sans"/>
              </a:rPr>
              <a:t>Gate consumer-release: 43 checks, fail-closed, exit 1</a:t>
            </a: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4709160" y="1600200"/>
            <a:ext cx="3931920" cy="320040"/>
          </a:xfrm>
          <a:prstGeom prst="rect">
            <a:avLst/>
          </a:prstGeom>
          <a:noFill/>
        </p:spPr>
        <p:txBody>
          <a:bodyPr wrap="square" anchor="t" lIns="0" rIns="0" tIns="0" bIns="0">
            <a:spAutoFit/>
          </a:bodyPr>
          <a:lstStyle/>
          <a:p>
            <a:pPr algn="l"/>
            <a:r>
              <a:rPr sz="1200" b="1">
                <a:solidFill>
                  <a:srgbClr val="FFFFFF"/>
                </a:solidFill>
                <a:latin typeface="Arial"/>
              </a:rPr>
              <a:t>Y la parte honesta</a:t>
            </a:r>
          </a:p>
        </p:txBody>
      </p:sp>
      <p:sp>
        <p:nvSpPr>
          <p:cNvPr id="105" name="TextBox 104"/>
          <p:cNvSpPr txBox="1"/>
          <p:nvPr/>
        </p:nvSpPr>
        <p:spPr>
          <a:xfrm>
            <a:off x="4709160" y="2011680"/>
            <a:ext cx="3931920" cy="2011680"/>
          </a:xfrm>
          <a:prstGeom prst="rect">
            <a:avLst/>
          </a:prstGeom>
          <a:noFill/>
        </p:spPr>
        <p:txBody>
          <a:bodyPr wrap="square" anchor="t" lIns="0" rIns="0" tIns="0" bIns="0">
            <a:spAutoFit/>
          </a:bodyPr>
          <a:lstStyle/>
          <a:p>
            <a:pPr algn="l"/>
            <a:r>
              <a:rPr sz="1100" b="0">
                <a:solidFill>
                  <a:srgbClr val="FFFFFF"/>
                </a:solidFill>
                <a:latin typeface="Arial"/>
              </a:rPr>
              <a:t>Cinco de las seis puertas son advisory:</a:t>
            </a:r>
          </a:p>
          <a:p>
            <a:pPr algn="l"/>
            <a:r>
              <a:rPr sz="1100" b="0">
                <a:solidFill>
                  <a:srgbClr val="FFFFFF"/>
                </a:solidFill>
                <a:latin typeface="Arial"/>
              </a:rPr>
              <a:t>corren cuando alguien las invoca. Sin</a:t>
            </a:r>
          </a:p>
          <a:p>
            <a:pPr algn="l"/>
            <a:r>
              <a:rPr sz="1100" b="0">
                <a:solidFill>
                  <a:srgbClr val="FFFFFF"/>
                </a:solidFill>
                <a:latin typeface="Arial"/>
              </a:rPr>
              <a:t>pre-push ni CI, nada te obliga a entrar.</a:t>
            </a:r>
          </a:p>
          <a:p>
            <a:pPr algn="l"/>
            <a:r>
              <a:rPr sz="1100" b="0">
                <a:solidFill>
                  <a:srgbClr val="FFFFFF"/>
                </a:solidFill>
                <a:latin typeface="Arial"/>
              </a:rPr>
              <a:t/>
            </a:r>
          </a:p>
          <a:p>
            <a:pPr algn="l"/>
            <a:r>
              <a:rPr sz="1100" b="0">
                <a:solidFill>
                  <a:srgbClr val="FFFFFF"/>
                </a:solidFill>
                <a:latin typeface="Arial"/>
              </a:rPr>
              <a:t>La única puerta ineludible es el build:</a:t>
            </a:r>
          </a:p>
          <a:p>
            <a:pPr algn="l"/>
            <a:r>
              <a:rPr sz="1100" b="0">
                <a:solidFill>
                  <a:srgbClr val="FFFFFF"/>
                </a:solidFill>
                <a:latin typeface="Arial"/>
              </a:rPr>
              <a:t>por eso el canary vive exactamente ahí.</a:t>
            </a:r>
          </a:p>
          <a:p>
            <a:pPr algn="l"/>
            <a:r>
              <a:rPr sz="1100" b="0">
                <a:solidFill>
                  <a:srgbClr val="FFFFFF"/>
                </a:solidFill>
                <a:latin typeface="Arial"/>
              </a:rPr>
              <a:t/>
            </a:r>
          </a:p>
          <a:p>
            <a:pPr algn="l"/>
            <a:r>
              <a:rPr sz="1100" b="0">
                <a:solidFill>
                  <a:srgbClr val="FFFFFF"/>
                </a:solidFill>
                <a:latin typeface="Arial"/>
              </a:rPr>
              <a:t>Cerrar la feature no promueve la iniciativa:</a:t>
            </a:r>
          </a:p>
          <a:p>
            <a:pPr algn="l"/>
            <a:r>
              <a:rPr sz="1100" b="0">
                <a:solidFill>
                  <a:srgbClr val="FFFFFF"/>
                </a:solidFill>
                <a:latin typeface="Arial"/>
              </a:rPr>
              <a:t>el attachment del módulo sigue en draft.</a:t>
            </a: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6"/>
          <p:cNvSpPr txBox="1"/>
          <p:nvPr/>
        </p:nvSpPr>
        <p:spPr>
          <a:xfrm>
            <a:off x="593975" y="1061425"/>
            <a:ext cx="4937760" cy="41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chemeClr val="dk1"/>
                </a:solidFill>
                <a:latin typeface="Arial"/>
                <a:ea typeface="Google Sans"/>
                <a:cs typeface="Google Sans"/>
                <a:sym typeface="Google Sans"/>
              </a:rPr>
              <a:t>Del conocimiento al código</a:t>
            </a:r>
            <a:endParaRPr b="1" sz="3000">
              <a:solidFill>
                <a:schemeClr val="dk1"/>
              </a:solidFill>
              <a:latin typeface="Google Sans"/>
              <a:ea typeface="Google Sans"/>
              <a:cs typeface="Google Sans"/>
              <a:sym typeface="Google Sans"/>
            </a:endParaRPr>
          </a:p>
        </p:txBody>
      </p:sp>
      <p:sp>
        <p:nvSpPr>
          <p:cNvPr id="103" name="Google Shape;103;p26"/>
          <p:cNvSpPr txBox="1"/>
          <p:nvPr/>
        </p:nvSpPr>
        <p:spPr>
          <a:xfrm>
            <a:off x="221550" y="177100"/>
            <a:ext cx="405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accent2"/>
                </a:solidFill>
                <a:latin typeface="Google Sans"/>
                <a:ea typeface="Google Sans"/>
                <a:cs typeface="Google Sans"/>
                <a:sym typeface="Google Sans"/>
              </a:rPr>
              <a:t>KCD_Lima_Perú_2026</a:t>
            </a:r>
            <a:endParaRPr b="1" sz="1500">
              <a:solidFill>
                <a:schemeClr val="accent2"/>
              </a:solidFill>
              <a:latin typeface="Google Sans"/>
              <a:ea typeface="Google Sans"/>
              <a:cs typeface="Google Sans"/>
              <a:sym typeface="Google Sans"/>
            </a:endParaRPr>
          </a:p>
        </p:txBody>
      </p:sp>
      <p:sp>
        <p:nvSpPr>
          <p:cNvPr id="104" name="TextBox 103"/>
          <p:cNvSpPr txBox="1"/>
          <p:nvPr/>
        </p:nvSpPr>
        <p:spPr>
          <a:xfrm>
            <a:off x="594360" y="1691640"/>
            <a:ext cx="7900416" cy="274320"/>
          </a:xfrm>
          <a:prstGeom prst="rect">
            <a:avLst/>
          </a:prstGeom>
          <a:noFill/>
        </p:spPr>
        <p:txBody>
          <a:bodyPr wrap="square" anchor="t" lIns="0" rIns="0" tIns="0" bIns="0">
            <a:spAutoFit/>
          </a:bodyPr>
          <a:lstStyle/>
          <a:p>
            <a:pPr algn="l"/>
            <a:r>
              <a:rPr sz="1300" b="1">
                <a:solidFill>
                  <a:srgbClr val="262626"/>
                </a:solidFill>
                <a:latin typeface="Arial"/>
              </a:rPr>
              <a:t>Cada línea controvertida del job tiene una línea de conocimiento que la ordena.</a:t>
            </a:r>
          </a:p>
        </p:txBody>
      </p:sp>
      <p:sp>
        <p:nvSpPr>
          <p:cNvPr id="105" name="Rectangle 104"/>
          <p:cNvSpPr/>
          <p:nvPr/>
        </p:nvSpPr>
        <p:spPr>
          <a:xfrm>
            <a:off x="594360" y="2194560"/>
            <a:ext cx="91440" cy="475488"/>
          </a:xfrm>
          <a:prstGeom prst="rect">
            <a:avLst/>
          </a:prstGeom>
          <a:solidFill>
            <a:srgbClr val="C0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6" name="TextBox 105"/>
          <p:cNvSpPr txBox="1"/>
          <p:nvPr/>
        </p:nvSpPr>
        <p:spPr>
          <a:xfrm>
            <a:off x="822960" y="2212848"/>
            <a:ext cx="7680960" cy="457200"/>
          </a:xfrm>
          <a:prstGeom prst="rect">
            <a:avLst/>
          </a:prstGeom>
          <a:noFill/>
        </p:spPr>
        <p:txBody>
          <a:bodyPr wrap="square" anchor="t" lIns="0" rIns="0" tIns="0" bIns="0">
            <a:spAutoFit/>
          </a:bodyPr>
          <a:lstStyle/>
          <a:p>
            <a:pPr algn="l"/>
            <a:r>
              <a:rPr sz="1200" b="1">
                <a:solidFill>
                  <a:srgbClr val="262626"/>
                </a:solidFill>
                <a:latin typeface="Arial"/>
              </a:rPr>
              <a:t>FR-001 prohíbe el acceso dinámico por nombre</a:t>
            </a:r>
          </a:p>
          <a:p>
            <a:pPr algn="l"/>
            <a:r>
              <a:rPr sz="1200" b="0">
                <a:solidFill>
                  <a:srgbClr val="262626"/>
                </a:solidFill>
                <a:latin typeface="Arial"/>
              </a:rPr>
              <a:t>el job usa getTotalPrice(); por eso la deriva rompe la compilación</a:t>
            </a:r>
          </a:p>
        </p:txBody>
      </p:sp>
      <p:sp>
        <p:nvSpPr>
          <p:cNvPr id="107" name="Rectangle 106"/>
          <p:cNvSpPr/>
          <p:nvPr/>
        </p:nvSpPr>
        <p:spPr>
          <a:xfrm>
            <a:off x="594360" y="2834640"/>
            <a:ext cx="91440" cy="475488"/>
          </a:xfrm>
          <a:prstGeom prst="rect">
            <a:avLst/>
          </a:prstGeom>
          <a:solidFill>
            <a:srgbClr val="C0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8" name="TextBox 107"/>
          <p:cNvSpPr txBox="1"/>
          <p:nvPr/>
        </p:nvSpPr>
        <p:spPr>
          <a:xfrm>
            <a:off x="822960" y="2852928"/>
            <a:ext cx="7680960" cy="457200"/>
          </a:xfrm>
          <a:prstGeom prst="rect">
            <a:avLst/>
          </a:prstGeom>
          <a:noFill/>
        </p:spPr>
        <p:txBody>
          <a:bodyPr wrap="square" anchor="t" lIns="0" rIns="0" tIns="0" bIns="0">
            <a:spAutoFit/>
          </a:bodyPr>
          <a:lstStyle/>
          <a:p>
            <a:pPr algn="l"/>
            <a:r>
              <a:rPr sz="1200" b="1">
                <a:solidFill>
                  <a:srgbClr val="262626"/>
                </a:solidFill>
                <a:latin typeface="Arial"/>
              </a:rPr>
              <a:t>FR-002 declara event-time y la política de tardíos</a:t>
            </a:r>
          </a:p>
          <a:p>
            <a:pPr algn="l"/>
            <a:r>
              <a:rPr sz="1200" b="0">
                <a:solidFill>
                  <a:srgbClr val="262626"/>
                </a:solidFill>
                <a:latin typeface="Arial"/>
              </a:rPr>
              <a:t>watermarks 5s + ALLOWED_LATENESS 10s como constante, no como folklore</a:t>
            </a:r>
          </a:p>
        </p:txBody>
      </p:sp>
      <p:sp>
        <p:nvSpPr>
          <p:cNvPr id="109" name="Rectangle 108"/>
          <p:cNvSpPr/>
          <p:nvPr/>
        </p:nvSpPr>
        <p:spPr>
          <a:xfrm>
            <a:off x="594360" y="3474720"/>
            <a:ext cx="91440" cy="475488"/>
          </a:xfrm>
          <a:prstGeom prst="rect">
            <a:avLst/>
          </a:prstGeom>
          <a:solidFill>
            <a:srgbClr val="C0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10" name="TextBox 109"/>
          <p:cNvSpPr txBox="1"/>
          <p:nvPr/>
        </p:nvSpPr>
        <p:spPr>
          <a:xfrm>
            <a:off x="822960" y="3493008"/>
            <a:ext cx="7680960" cy="457200"/>
          </a:xfrm>
          <a:prstGeom prst="rect">
            <a:avLst/>
          </a:prstGeom>
          <a:noFill/>
        </p:spPr>
        <p:txBody>
          <a:bodyPr wrap="square" anchor="t" lIns="0" rIns="0" tIns="0" bIns="0">
            <a:spAutoFit/>
          </a:bodyPr>
          <a:lstStyle/>
          <a:p>
            <a:pPr algn="l"/>
            <a:r>
              <a:rPr sz="1200" b="1">
                <a:solidFill>
                  <a:srgbClr val="262626"/>
                </a:solidFill>
                <a:latin typeface="Arial"/>
              </a:rPr>
              <a:t>SC-001 exige un resultado reproducible</a:t>
            </a:r>
          </a:p>
          <a:p>
            <a:pPr algn="l"/>
            <a:r>
              <a:rPr sz="1200" b="0">
                <a:solidFill>
                  <a:srgbClr val="262626"/>
                </a:solidFill>
                <a:latin typeface="Arial"/>
              </a:rPr>
              <a:t>pipeline aislado + fixture determinista: la cifra se verifica sin cluster</a:t>
            </a:r>
          </a:p>
        </p:txBody>
      </p:sp>
      <p:sp>
        <p:nvSpPr>
          <p:cNvPr id="111" name="TextBox 110"/>
          <p:cNvSpPr txBox="1"/>
          <p:nvPr/>
        </p:nvSpPr>
        <p:spPr>
          <a:xfrm>
            <a:off x="594360" y="4160520"/>
            <a:ext cx="7900416" cy="274320"/>
          </a:xfrm>
          <a:prstGeom prst="rect">
            <a:avLst/>
          </a:prstGeom>
          <a:noFill/>
        </p:spPr>
        <p:txBody>
          <a:bodyPr wrap="square" anchor="t" lIns="0" rIns="0" tIns="0" bIns="0">
            <a:spAutoFit/>
          </a:bodyPr>
          <a:lstStyle/>
          <a:p>
            <a:pPr algn="l"/>
            <a:r>
              <a:rPr sz="1200" b="1">
                <a:solidFill>
                  <a:srgbClr val="262626"/>
                </a:solidFill>
                <a:latin typeface="Arial"/>
              </a:rPr>
              <a:t>El código no interpreta la spec: la obedece. Y cuando no puede, no compila.</a:t>
            </a:r>
          </a:p>
        </p:txBody>
      </p:sp>
    </p:spTree>
  </p:cSld>
  <p:clrMapOvr>
    <a:masterClrMapping/>
  </p:clrMapOvr>
</p:sld>
</file>

<file path=ppt/theme/theme1.xml><?xml version="1.0" encoding="utf-8"?>
<a:theme xmlns:a="http://schemas.openxmlformats.org/drawingml/2006/main" xmlns:r="http://schemas.openxmlformats.org/officeDocument/2006/relationships" name="Women Techmakers Guidelines">
  <a:themeElements>
    <a:clrScheme name="Simple Light">
      <a:dk1>
        <a:srgbClr val="202124"/>
      </a:dk1>
      <a:lt1>
        <a:srgbClr val="FFFFFF"/>
      </a:lt1>
      <a:dk2>
        <a:srgbClr val="FFFFFF"/>
      </a:dk2>
      <a:lt2>
        <a:srgbClr val="FFFFFF"/>
      </a:lt2>
      <a:accent1>
        <a:srgbClr val="54A6EC"/>
      </a:accent1>
      <a:accent2>
        <a:srgbClr val="2480EF"/>
      </a:accent2>
      <a:accent3>
        <a:srgbClr val="00DAA1"/>
      </a:accent3>
      <a:accent4>
        <a:srgbClr val="00B597"/>
      </a:accent4>
      <a:accent5>
        <a:srgbClr val="FFC3A1"/>
      </a:accent5>
      <a:accent6>
        <a:srgbClr val="FF676A"/>
      </a:accent6>
      <a:hlink>
        <a:srgbClr val="1A73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